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65" r:id="rId5"/>
    <p:sldId id="259" r:id="rId6"/>
    <p:sldId id="266" r:id="rId7"/>
    <p:sldId id="270" r:id="rId8"/>
    <p:sldId id="263" r:id="rId9"/>
    <p:sldId id="261" r:id="rId10"/>
    <p:sldId id="262" r:id="rId11"/>
    <p:sldId id="268" r:id="rId12"/>
    <p:sldId id="267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FB9B9"/>
    <a:srgbClr val="4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0CA70-0DAF-48FE-ABB8-F3EC29116399}" type="datetimeFigureOut">
              <a:rPr lang="en-NZ" smtClean="0"/>
              <a:t>3/03/2021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2F7C3-F619-4463-B469-3D216841984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89628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0CA70-0DAF-48FE-ABB8-F3EC29116399}" type="datetimeFigureOut">
              <a:rPr lang="en-NZ" smtClean="0"/>
              <a:t>3/03/2021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2F7C3-F619-4463-B469-3D216841984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28970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0CA70-0DAF-48FE-ABB8-F3EC29116399}" type="datetimeFigureOut">
              <a:rPr lang="en-NZ" smtClean="0"/>
              <a:t>3/03/2021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2F7C3-F619-4463-B469-3D216841984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49092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0CA70-0DAF-48FE-ABB8-F3EC29116399}" type="datetimeFigureOut">
              <a:rPr lang="en-NZ" smtClean="0"/>
              <a:t>3/03/2021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2F7C3-F619-4463-B469-3D216841984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93396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0CA70-0DAF-48FE-ABB8-F3EC29116399}" type="datetimeFigureOut">
              <a:rPr lang="en-NZ" smtClean="0"/>
              <a:t>3/03/2021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2F7C3-F619-4463-B469-3D216841984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77014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0CA70-0DAF-48FE-ABB8-F3EC29116399}" type="datetimeFigureOut">
              <a:rPr lang="en-NZ" smtClean="0"/>
              <a:t>3/03/2021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2F7C3-F619-4463-B469-3D216841984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20009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0CA70-0DAF-48FE-ABB8-F3EC29116399}" type="datetimeFigureOut">
              <a:rPr lang="en-NZ" smtClean="0"/>
              <a:t>3/03/2021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2F7C3-F619-4463-B469-3D216841984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335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0CA70-0DAF-48FE-ABB8-F3EC29116399}" type="datetimeFigureOut">
              <a:rPr lang="en-NZ" smtClean="0"/>
              <a:t>3/03/2021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2F7C3-F619-4463-B469-3D216841984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64723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0CA70-0DAF-48FE-ABB8-F3EC29116399}" type="datetimeFigureOut">
              <a:rPr lang="en-NZ" smtClean="0"/>
              <a:t>3/03/2021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2F7C3-F619-4463-B469-3D216841984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94804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0CA70-0DAF-48FE-ABB8-F3EC29116399}" type="datetimeFigureOut">
              <a:rPr lang="en-NZ" smtClean="0"/>
              <a:t>3/03/2021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2F7C3-F619-4463-B469-3D216841984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50830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0CA70-0DAF-48FE-ABB8-F3EC29116399}" type="datetimeFigureOut">
              <a:rPr lang="en-NZ" smtClean="0"/>
              <a:t>3/03/2021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2F7C3-F619-4463-B469-3D216841984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97447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0CA70-0DAF-48FE-ABB8-F3EC29116399}" type="datetimeFigureOut">
              <a:rPr lang="en-NZ" smtClean="0"/>
              <a:t>3/03/2021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2F7C3-F619-4463-B469-3D216841984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4491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347913"/>
            <a:ext cx="9144000" cy="3510088"/>
          </a:xfrm>
        </p:spPr>
        <p:txBody>
          <a:bodyPr>
            <a:normAutofit fontScale="92500" lnSpcReduction="20000"/>
          </a:bodyPr>
          <a:lstStyle/>
          <a:p>
            <a:r>
              <a:rPr lang="en-US" sz="2000" b="1" i="1" dirty="0">
                <a:solidFill>
                  <a:srgbClr val="800000"/>
                </a:solidFill>
              </a:rPr>
              <a:t>BY</a:t>
            </a:r>
          </a:p>
          <a:p>
            <a:r>
              <a:rPr lang="en-US" sz="2000" dirty="0">
                <a:solidFill>
                  <a:srgbClr val="800000"/>
                </a:solidFill>
              </a:rPr>
              <a:t>Martin Nguyen (68623131)</a:t>
            </a:r>
          </a:p>
          <a:p>
            <a:r>
              <a:rPr lang="en-US" sz="2000" dirty="0">
                <a:solidFill>
                  <a:srgbClr val="800000"/>
                </a:solidFill>
              </a:rPr>
              <a:t>Jian Di (61972461)</a:t>
            </a:r>
          </a:p>
          <a:p>
            <a:endParaRPr lang="en-US" sz="2000" dirty="0">
              <a:solidFill>
                <a:srgbClr val="800000"/>
              </a:solidFill>
            </a:endParaRPr>
          </a:p>
          <a:p>
            <a:r>
              <a:rPr lang="en-US" sz="2000" b="1" i="1" dirty="0">
                <a:solidFill>
                  <a:srgbClr val="800000"/>
                </a:solidFill>
              </a:rPr>
              <a:t>Supervisor:</a:t>
            </a:r>
          </a:p>
          <a:p>
            <a:r>
              <a:rPr lang="en-US" sz="2000" dirty="0">
                <a:solidFill>
                  <a:srgbClr val="800000"/>
                </a:solidFill>
              </a:rPr>
              <a:t>Phil Davies</a:t>
            </a:r>
          </a:p>
          <a:p>
            <a:endParaRPr lang="en-US" sz="2000" dirty="0">
              <a:solidFill>
                <a:srgbClr val="800000"/>
              </a:solidFill>
            </a:endParaRPr>
          </a:p>
          <a:p>
            <a:r>
              <a:rPr lang="en-US" sz="2000" b="1" i="1" dirty="0">
                <a:solidFill>
                  <a:srgbClr val="800000"/>
                </a:solidFill>
              </a:rPr>
              <a:t>GNS Science mentors:</a:t>
            </a:r>
          </a:p>
          <a:p>
            <a:r>
              <a:rPr lang="en-US" sz="2000" dirty="0">
                <a:solidFill>
                  <a:srgbClr val="800000"/>
                </a:solidFill>
              </a:rPr>
              <a:t>Dr. Robert Buxton</a:t>
            </a:r>
          </a:p>
          <a:p>
            <a:r>
              <a:rPr lang="en-US" sz="2000" dirty="0">
                <a:solidFill>
                  <a:srgbClr val="800000"/>
                </a:solidFill>
              </a:rPr>
              <a:t>Dr. Alexandre Dunant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72716" y="1326605"/>
            <a:ext cx="11646568" cy="18818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25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 OF GENERATIVE MODELS </a:t>
            </a:r>
          </a:p>
          <a:p>
            <a:pPr>
              <a:lnSpc>
                <a:spcPct val="120000"/>
              </a:lnSpc>
            </a:pPr>
            <a:r>
              <a:rPr lang="en-US" sz="25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ENHANCE THE PERFORMANCE OF </a:t>
            </a:r>
          </a:p>
          <a:p>
            <a:pPr>
              <a:lnSpc>
                <a:spcPct val="120000"/>
              </a:lnSpc>
            </a:pPr>
            <a:r>
              <a:rPr lang="en-US" sz="25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 PROBABILISTIC SEISMIC MODELS</a:t>
            </a:r>
          </a:p>
          <a:p>
            <a:pPr>
              <a:lnSpc>
                <a:spcPct val="120000"/>
              </a:lnSpc>
            </a:pPr>
            <a:r>
              <a:rPr lang="en-US" sz="1500" i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February, 2021</a:t>
            </a:r>
            <a:endParaRPr lang="en-NZ" sz="1500" i="1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787" y="323070"/>
            <a:ext cx="4636169" cy="86404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316" y="323070"/>
            <a:ext cx="3047999" cy="8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604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1634" y="169775"/>
            <a:ext cx="380291" cy="412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6912" y="169775"/>
            <a:ext cx="331046" cy="403361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92505" y="132369"/>
            <a:ext cx="10515600" cy="5742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 &amp; ORGANISATION</a:t>
            </a:r>
            <a:endParaRPr lang="en-NZ" sz="25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08067" y="656706"/>
            <a:ext cx="119289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Content Placeholder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659" y="1808744"/>
            <a:ext cx="856212" cy="1298827"/>
          </a:xfrm>
          <a:prstGeom prst="rect">
            <a:avLst/>
          </a:prstGeom>
        </p:spPr>
      </p:pic>
      <p:sp>
        <p:nvSpPr>
          <p:cNvPr id="12" name="Content Placeholder 2"/>
          <p:cNvSpPr txBox="1">
            <a:spLocks/>
          </p:cNvSpPr>
          <p:nvPr/>
        </p:nvSpPr>
        <p:spPr>
          <a:xfrm>
            <a:off x="8029882" y="3379209"/>
            <a:ext cx="4007167" cy="3237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>
                <a:solidFill>
                  <a:srgbClr val="800000"/>
                </a:solidFill>
              </a:rPr>
              <a:t>New Zealand’s leading geoscience and isotope research and consultancy service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800000"/>
                </a:solidFill>
              </a:rPr>
              <a:t>GNS Science mentors: Dr. Robert Buxton and Dr. Alexandre Dunant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358760" y="1702378"/>
            <a:ext cx="7247386" cy="4914553"/>
          </a:xfrm>
        </p:spPr>
        <p:txBody>
          <a:bodyPr>
            <a:noAutofit/>
          </a:bodyPr>
          <a:lstStyle/>
          <a:p>
            <a:pPr marL="514350" indent="-514350">
              <a:lnSpc>
                <a:spcPct val="130000"/>
              </a:lnSpc>
              <a:buFont typeface="+mj-lt"/>
              <a:buAutoNum type="arabicPeriod"/>
            </a:pPr>
            <a:r>
              <a:rPr lang="en-US" sz="2100" dirty="0">
                <a:solidFill>
                  <a:srgbClr val="800000"/>
                </a:solidFill>
              </a:rPr>
              <a:t>Project ideas and objectives</a:t>
            </a:r>
          </a:p>
          <a:p>
            <a:pPr marL="514350" indent="-514350">
              <a:lnSpc>
                <a:spcPct val="130000"/>
              </a:lnSpc>
              <a:buFont typeface="+mj-lt"/>
              <a:buAutoNum type="arabicPeriod"/>
            </a:pPr>
            <a:r>
              <a:rPr lang="en-US" sz="2100" dirty="0">
                <a:solidFill>
                  <a:srgbClr val="800000"/>
                </a:solidFill>
              </a:rPr>
              <a:t>Data &amp; preprocessing</a:t>
            </a:r>
          </a:p>
          <a:p>
            <a:pPr marL="514350" indent="-514350">
              <a:lnSpc>
                <a:spcPct val="130000"/>
              </a:lnSpc>
              <a:buFont typeface="+mj-lt"/>
              <a:buAutoNum type="arabicPeriod"/>
            </a:pPr>
            <a:r>
              <a:rPr lang="en-US" sz="2100" dirty="0">
                <a:solidFill>
                  <a:srgbClr val="800000"/>
                </a:solidFill>
              </a:rPr>
              <a:t>Methodology – CTGAN</a:t>
            </a:r>
          </a:p>
          <a:p>
            <a:pPr marL="514350" indent="-514350">
              <a:lnSpc>
                <a:spcPct val="130000"/>
              </a:lnSpc>
              <a:buFont typeface="+mj-lt"/>
              <a:buAutoNum type="arabicPeriod"/>
            </a:pPr>
            <a:r>
              <a:rPr lang="en-US" sz="2100" dirty="0">
                <a:solidFill>
                  <a:srgbClr val="800000"/>
                </a:solidFill>
              </a:rPr>
              <a:t>Methodology – Evaluation</a:t>
            </a:r>
          </a:p>
          <a:p>
            <a:pPr marL="514350" indent="-514350">
              <a:lnSpc>
                <a:spcPct val="130000"/>
              </a:lnSpc>
              <a:buFont typeface="+mj-lt"/>
              <a:buAutoNum type="arabicPeriod"/>
            </a:pPr>
            <a:r>
              <a:rPr lang="en-US" sz="2100" dirty="0">
                <a:solidFill>
                  <a:srgbClr val="800000"/>
                </a:solidFill>
              </a:rPr>
              <a:t>Results – Sub-dataset &amp; Hyperparameters</a:t>
            </a:r>
          </a:p>
          <a:p>
            <a:pPr marL="514350" indent="-514350">
              <a:lnSpc>
                <a:spcPct val="130000"/>
              </a:lnSpc>
              <a:buFont typeface="+mj-lt"/>
              <a:buAutoNum type="arabicPeriod"/>
            </a:pPr>
            <a:r>
              <a:rPr lang="en-US" sz="2100" dirty="0">
                <a:solidFill>
                  <a:srgbClr val="800000"/>
                </a:solidFill>
              </a:rPr>
              <a:t>Results – Correlations – Discrete variables</a:t>
            </a:r>
          </a:p>
          <a:p>
            <a:pPr marL="514350" indent="-514350">
              <a:lnSpc>
                <a:spcPct val="130000"/>
              </a:lnSpc>
              <a:buFont typeface="+mj-lt"/>
              <a:buAutoNum type="arabicPeriod"/>
            </a:pPr>
            <a:r>
              <a:rPr lang="en-US" sz="2100" dirty="0">
                <a:solidFill>
                  <a:srgbClr val="800000"/>
                </a:solidFill>
              </a:rPr>
              <a:t>Results – Correlations &amp; Mappings</a:t>
            </a:r>
            <a:r>
              <a:rPr lang="en-NZ" sz="2100" dirty="0">
                <a:solidFill>
                  <a:srgbClr val="800000"/>
                </a:solidFill>
              </a:rPr>
              <a:t> – Continuous variables</a:t>
            </a:r>
          </a:p>
          <a:p>
            <a:pPr marL="514350" indent="-514350">
              <a:lnSpc>
                <a:spcPct val="130000"/>
              </a:lnSpc>
              <a:buFont typeface="+mj-lt"/>
              <a:buAutoNum type="arabicPeriod"/>
            </a:pPr>
            <a:r>
              <a:rPr lang="en-US" sz="2100" dirty="0">
                <a:solidFill>
                  <a:srgbClr val="800000"/>
                </a:solidFill>
              </a:rPr>
              <a:t>Problems</a:t>
            </a:r>
          </a:p>
          <a:p>
            <a:pPr marL="514350" indent="-514350">
              <a:lnSpc>
                <a:spcPct val="130000"/>
              </a:lnSpc>
              <a:buFont typeface="+mj-lt"/>
              <a:buAutoNum type="arabicPeriod"/>
            </a:pPr>
            <a:r>
              <a:rPr lang="en-US" sz="2100" dirty="0">
                <a:solidFill>
                  <a:srgbClr val="800000"/>
                </a:solidFill>
              </a:rPr>
              <a:t>Discussion and Further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8871" y="867706"/>
            <a:ext cx="3747164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NZ" sz="3000" b="1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97755" y="871598"/>
            <a:ext cx="0" cy="5893096"/>
          </a:xfrm>
          <a:prstGeom prst="line">
            <a:avLst/>
          </a:prstGeom>
          <a:ln w="25400">
            <a:solidFill>
              <a:srgbClr val="4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89885" y="871598"/>
            <a:ext cx="3747164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ORGANISATION</a:t>
            </a:r>
            <a:endParaRPr lang="en-NZ" sz="3000" b="1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140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1634" y="169775"/>
            <a:ext cx="380291" cy="412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6912" y="169775"/>
            <a:ext cx="331046" cy="403361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192505" y="132369"/>
            <a:ext cx="10515600" cy="5742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PROJECT IDEAS &amp; OBJECTIVES</a:t>
            </a:r>
            <a:endParaRPr lang="en-NZ" sz="25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08067" y="656706"/>
            <a:ext cx="119289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4323" y="826735"/>
            <a:ext cx="2605868" cy="1477328"/>
          </a:xfrm>
          <a:prstGeom prst="rect">
            <a:avLst/>
          </a:prstGeom>
          <a:noFill/>
          <a:ln w="12700">
            <a:solidFill>
              <a:srgbClr val="4C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robabilistic</a:t>
            </a:r>
            <a:r>
              <a:rPr lang="en-US" sz="2000" b="1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b="1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000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eismic </a:t>
            </a:r>
            <a:r>
              <a:rPr lang="en-US" sz="2500" b="1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000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azard </a:t>
            </a:r>
            <a:r>
              <a:rPr lang="en-US" sz="2500" b="1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000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nalysis</a:t>
            </a:r>
          </a:p>
          <a:p>
            <a:pPr algn="ctr"/>
            <a:r>
              <a:rPr lang="en-US" sz="2000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</a:p>
          <a:p>
            <a:pPr algn="ctr"/>
            <a:r>
              <a:rPr lang="en-US" sz="2000" b="1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000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</a:t>
            </a:r>
            <a:r>
              <a:rPr lang="en-US" sz="2000" b="1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</a:t>
            </a:r>
            <a:r>
              <a:rPr lang="en-US" sz="2000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uake</a:t>
            </a:r>
            <a:r>
              <a:rPr lang="en-US" sz="2000" b="1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</a:t>
            </a:r>
            <a:endParaRPr lang="en-NZ" sz="2000" dirty="0">
              <a:solidFill>
                <a:srgbClr val="4C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512048" y="2304063"/>
            <a:ext cx="0" cy="641342"/>
          </a:xfrm>
          <a:prstGeom prst="straightConnector1">
            <a:avLst/>
          </a:prstGeom>
          <a:ln>
            <a:solidFill>
              <a:srgbClr val="4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8626" y="2953732"/>
            <a:ext cx="2507797" cy="400110"/>
          </a:xfrm>
          <a:prstGeom prst="rect">
            <a:avLst/>
          </a:prstGeom>
          <a:noFill/>
          <a:ln>
            <a:solidFill>
              <a:srgbClr val="4C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Earthquake dataset</a:t>
            </a:r>
            <a:endParaRPr lang="en-NZ" sz="2000" dirty="0">
              <a:solidFill>
                <a:srgbClr val="4C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ight Brace 24"/>
          <p:cNvSpPr/>
          <p:nvPr/>
        </p:nvSpPr>
        <p:spPr>
          <a:xfrm>
            <a:off x="2863552" y="1407949"/>
            <a:ext cx="288636" cy="1687705"/>
          </a:xfrm>
          <a:prstGeom prst="rightBrace">
            <a:avLst/>
          </a:prstGeom>
          <a:ln w="12700">
            <a:solidFill>
              <a:srgbClr val="4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6" name="TextBox 25"/>
          <p:cNvSpPr txBox="1"/>
          <p:nvPr/>
        </p:nvSpPr>
        <p:spPr>
          <a:xfrm>
            <a:off x="3257943" y="1733763"/>
            <a:ext cx="2150947" cy="969496"/>
          </a:xfrm>
          <a:prstGeom prst="rect">
            <a:avLst/>
          </a:prstGeom>
          <a:noFill/>
          <a:ln>
            <a:solidFill>
              <a:srgbClr val="4C0000"/>
            </a:solidFill>
          </a:ln>
        </p:spPr>
        <p:txBody>
          <a:bodyPr wrap="square" rtlCol="0" anchor="ctr" anchorCtr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</a:t>
            </a:r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Time-consuming</a:t>
            </a:r>
            <a:endParaRPr lang="en-NZ" sz="1900" dirty="0">
              <a:solidFill>
                <a:srgbClr val="4C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080764" y="907873"/>
            <a:ext cx="1149212" cy="496996"/>
          </a:xfrm>
          <a:prstGeom prst="rect">
            <a:avLst/>
          </a:prstGeom>
          <a:noFill/>
          <a:ln>
            <a:solidFill>
              <a:srgbClr val="4C0000"/>
            </a:solidFill>
          </a:ln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CTGAN</a:t>
            </a:r>
            <a:endParaRPr lang="en-NZ" sz="2000" dirty="0">
              <a:solidFill>
                <a:srgbClr val="4C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427785" y="2635043"/>
            <a:ext cx="2467901" cy="707886"/>
          </a:xfrm>
          <a:prstGeom prst="rect">
            <a:avLst/>
          </a:prstGeom>
          <a:noFill/>
          <a:ln>
            <a:solidFill>
              <a:srgbClr val="4C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Synthetic </a:t>
            </a:r>
          </a:p>
          <a:p>
            <a:pPr algn="ctr"/>
            <a:r>
              <a:rPr lang="en-US" sz="2000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earthquake dataset</a:t>
            </a:r>
            <a:endParaRPr lang="en-NZ" sz="2000" dirty="0">
              <a:solidFill>
                <a:srgbClr val="4C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10653111" y="2222087"/>
            <a:ext cx="0" cy="412956"/>
          </a:xfrm>
          <a:prstGeom prst="straightConnector1">
            <a:avLst/>
          </a:prstGeom>
          <a:ln>
            <a:solidFill>
              <a:srgbClr val="4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899789" y="1821467"/>
            <a:ext cx="1509043" cy="400110"/>
          </a:xfrm>
          <a:prstGeom prst="rect">
            <a:avLst/>
          </a:prstGeom>
          <a:noFill/>
          <a:ln>
            <a:solidFill>
              <a:srgbClr val="4C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10% - 20%</a:t>
            </a:r>
            <a:endParaRPr lang="en-NZ" sz="2000" dirty="0">
              <a:solidFill>
                <a:srgbClr val="4C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>
            <a:off x="10653110" y="1421222"/>
            <a:ext cx="0" cy="391357"/>
          </a:xfrm>
          <a:prstGeom prst="line">
            <a:avLst/>
          </a:prstGeom>
          <a:ln>
            <a:solidFill>
              <a:srgbClr val="4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ontent Placeholder 38"/>
          <p:cNvSpPr>
            <a:spLocks noGrp="1"/>
          </p:cNvSpPr>
          <p:nvPr>
            <p:ph idx="1"/>
          </p:nvPr>
        </p:nvSpPr>
        <p:spPr>
          <a:xfrm>
            <a:off x="996973" y="3741041"/>
            <a:ext cx="10565558" cy="2840914"/>
          </a:xfrm>
        </p:spPr>
        <p:txBody>
          <a:bodyPr>
            <a:noAutofit/>
          </a:bodyPr>
          <a:lstStyle/>
          <a:p>
            <a:pPr marL="361950" indent="-3619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identify any generative model that could learn the underlying features of the earthquake modelling process.</a:t>
            </a:r>
          </a:p>
          <a:p>
            <a:pPr marL="361950" indent="-3619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evaluate the similarity between the tabular data containing earthquake information and the output generated by the identified model with the tuned </a:t>
            </a:r>
            <a:r>
              <a:rPr lang="en-US" sz="2400" dirty="0" err="1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hyperparameters</a:t>
            </a:r>
            <a:r>
              <a:rPr lang="en-US" sz="2400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NZ" sz="2400" dirty="0">
              <a:solidFill>
                <a:srgbClr val="4C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 rot="16200000">
            <a:off x="-757438" y="4980801"/>
            <a:ext cx="2648310" cy="553998"/>
          </a:xfrm>
          <a:prstGeom prst="rect">
            <a:avLst/>
          </a:prstGeom>
          <a:solidFill>
            <a:srgbClr val="FFB9B9">
              <a:alpha val="40000"/>
            </a:srgbClr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NZ" sz="3000" b="1" dirty="0">
              <a:solidFill>
                <a:srgbClr val="4C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Left Brace 2"/>
          <p:cNvSpPr/>
          <p:nvPr/>
        </p:nvSpPr>
        <p:spPr>
          <a:xfrm>
            <a:off x="9136403" y="1095452"/>
            <a:ext cx="231942" cy="2234242"/>
          </a:xfrm>
          <a:prstGeom prst="leftBrace">
            <a:avLst/>
          </a:prstGeom>
          <a:ln>
            <a:solidFill>
              <a:srgbClr val="4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2" name="TextBox 21"/>
          <p:cNvSpPr txBox="1"/>
          <p:nvPr/>
        </p:nvSpPr>
        <p:spPr>
          <a:xfrm>
            <a:off x="6213624" y="1739564"/>
            <a:ext cx="2854713" cy="969496"/>
          </a:xfrm>
          <a:prstGeom prst="rect">
            <a:avLst/>
          </a:prstGeom>
          <a:noFill/>
          <a:ln>
            <a:solidFill>
              <a:srgbClr val="4C0000"/>
            </a:solidFill>
          </a:ln>
        </p:spPr>
        <p:txBody>
          <a:bodyPr wrap="square" rtlCol="0" anchor="ctr" anchorCtr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LESS</a:t>
            </a:r>
            <a:r>
              <a:rPr lang="en-US" sz="1900" b="1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</a:t>
            </a:r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LESS</a:t>
            </a:r>
            <a:r>
              <a:rPr lang="en-US" sz="1900" dirty="0">
                <a:solidFill>
                  <a:srgbClr val="4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Time-consuming</a:t>
            </a:r>
            <a:endParaRPr lang="en-NZ" sz="1900" dirty="0">
              <a:solidFill>
                <a:srgbClr val="4C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619" y="1855558"/>
            <a:ext cx="730528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061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92505" y="132369"/>
            <a:ext cx="10515600" cy="5742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DATA &amp; PREPROCESSING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08067" y="656706"/>
            <a:ext cx="119289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1634" y="169775"/>
            <a:ext cx="380291" cy="412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6912" y="169775"/>
            <a:ext cx="331046" cy="403361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453485"/>
              </p:ext>
            </p:extLst>
          </p:nvPr>
        </p:nvGraphicFramePr>
        <p:xfrm>
          <a:off x="362308" y="2070339"/>
          <a:ext cx="11513220" cy="4552238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605870">
                  <a:extLst>
                    <a:ext uri="{9D8B030D-6E8A-4147-A177-3AD203B41FA5}">
                      <a16:colId xmlns:a16="http://schemas.microsoft.com/office/drawing/2014/main" val="2564448565"/>
                    </a:ext>
                  </a:extLst>
                </a:gridCol>
                <a:gridCol w="1726412">
                  <a:extLst>
                    <a:ext uri="{9D8B030D-6E8A-4147-A177-3AD203B41FA5}">
                      <a16:colId xmlns:a16="http://schemas.microsoft.com/office/drawing/2014/main" val="2690926750"/>
                    </a:ext>
                  </a:extLst>
                </a:gridCol>
                <a:gridCol w="2238263">
                  <a:extLst>
                    <a:ext uri="{9D8B030D-6E8A-4147-A177-3AD203B41FA5}">
                      <a16:colId xmlns:a16="http://schemas.microsoft.com/office/drawing/2014/main" val="1389848620"/>
                    </a:ext>
                  </a:extLst>
                </a:gridCol>
                <a:gridCol w="5942675">
                  <a:extLst>
                    <a:ext uri="{9D8B030D-6E8A-4147-A177-3AD203B41FA5}">
                      <a16:colId xmlns:a16="http://schemas.microsoft.com/office/drawing/2014/main" val="3323659539"/>
                    </a:ext>
                  </a:extLst>
                </a:gridCol>
              </a:tblGrid>
              <a:tr h="7237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 names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Types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Full dataset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(1927173 x 9)</a:t>
                      </a:r>
                      <a:endParaRPr lang="en-NZ" sz="1800" b="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Description</a:t>
                      </a:r>
                      <a:endParaRPr lang="en-NZ" sz="1800" b="1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63481"/>
                  </a:ext>
                </a:extLst>
              </a:tr>
              <a:tr h="46835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Unnamed: 0</a:t>
                      </a:r>
                      <a:endParaRPr lang="en-NZ" sz="1800" b="1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Positive integer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Renamed to ‘order</a:t>
                      </a: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’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ID variable for the observations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54828"/>
                  </a:ext>
                </a:extLst>
              </a:tr>
              <a:tr h="4284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 err="1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Event_id</a:t>
                      </a:r>
                      <a:endParaRPr lang="en-NZ" sz="1800" b="1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Positive integer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ID</a:t>
                      </a:r>
                      <a:r>
                        <a:rPr lang="en-US" sz="1800" baseline="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 for the earthquake events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591169"/>
                  </a:ext>
                </a:extLst>
              </a:tr>
              <a:tr h="4090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 err="1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Site_id</a:t>
                      </a:r>
                      <a:endParaRPr lang="en-NZ" sz="1800" b="1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Positive float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ID for the quake sites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570562"/>
                  </a:ext>
                </a:extLst>
              </a:tr>
              <a:tr h="4090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 err="1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Gmv_PGA</a:t>
                      </a:r>
                      <a:endParaRPr lang="en-NZ" sz="1800" b="1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Positive float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The shaking value at the site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043929"/>
                  </a:ext>
                </a:extLst>
              </a:tr>
              <a:tr h="4090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Vs30</a:t>
                      </a:r>
                      <a:endParaRPr lang="en-NZ" sz="1800" b="1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Positive float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Shear-wave</a:t>
                      </a:r>
                      <a:r>
                        <a:rPr lang="en-US" sz="1800" baseline="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 velocity from the surface to a depth of 30m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642574"/>
                  </a:ext>
                </a:extLst>
              </a:tr>
              <a:tr h="4332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Z2.5</a:t>
                      </a:r>
                      <a:endParaRPr lang="en-NZ" sz="1800" b="1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Positive float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Depth at which shear-wave velocity reaches 2.5 km/s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085252"/>
                  </a:ext>
                </a:extLst>
              </a:tr>
              <a:tr h="44222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Z1.0</a:t>
                      </a:r>
                      <a:endParaRPr lang="en-NZ" sz="1800" b="1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Positive float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Depth at which shear-wave velocity reaches 1.0 km/s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254268"/>
                  </a:ext>
                </a:extLst>
              </a:tr>
              <a:tr h="4303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</a:t>
                      </a:r>
                      <a:endParaRPr lang="en-NZ" sz="1800" b="1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Positive float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Longitude (geometric variable)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811623"/>
                  </a:ext>
                </a:extLst>
              </a:tr>
              <a:tr h="3987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 err="1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Lat</a:t>
                      </a:r>
                      <a:endParaRPr lang="en-NZ" sz="1800" b="1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Negative float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B9B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B9B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Latitude (geometric</a:t>
                      </a:r>
                      <a:r>
                        <a:rPr lang="en-US" sz="1800" baseline="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 variable)</a:t>
                      </a:r>
                      <a:endParaRPr lang="en-NZ" sz="18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B9B9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324468"/>
                  </a:ext>
                </a:extLst>
              </a:tr>
            </a:tbl>
          </a:graphicData>
        </a:graphic>
      </p:graphicFrame>
      <p:sp>
        <p:nvSpPr>
          <p:cNvPr id="13" name="Content Placeholder 9"/>
          <p:cNvSpPr>
            <a:spLocks noGrp="1"/>
          </p:cNvSpPr>
          <p:nvPr>
            <p:ph idx="1"/>
          </p:nvPr>
        </p:nvSpPr>
        <p:spPr>
          <a:xfrm>
            <a:off x="192504" y="869814"/>
            <a:ext cx="11825453" cy="967611"/>
          </a:xfrm>
        </p:spPr>
        <p:txBody>
          <a:bodyPr>
            <a:noAutofit/>
          </a:bodyPr>
          <a:lstStyle/>
          <a:p>
            <a:pPr marL="180975" indent="-180975">
              <a:lnSpc>
                <a:spcPct val="150000"/>
              </a:lnSpc>
              <a:spcBef>
                <a:spcPts val="0"/>
              </a:spcBef>
            </a:pPr>
            <a:r>
              <a:rPr lang="en-US" sz="185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Containing </a:t>
            </a:r>
            <a:r>
              <a:rPr lang="en-US" sz="185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earthquake information</a:t>
            </a:r>
            <a:r>
              <a:rPr lang="en-US" sz="185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within the </a:t>
            </a:r>
            <a:r>
              <a:rPr lang="en-US" sz="185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Hawke’s Bay area</a:t>
            </a:r>
            <a:r>
              <a:rPr lang="en-US" sz="185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caused by the Hikurangi Subduction Zone</a:t>
            </a:r>
          </a:p>
          <a:p>
            <a:pPr marL="180975" indent="-180975">
              <a:lnSpc>
                <a:spcPct val="150000"/>
              </a:lnSpc>
              <a:spcBef>
                <a:spcPts val="0"/>
              </a:spcBef>
            </a:pPr>
            <a:r>
              <a:rPr lang="en-US" sz="185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dataset is </a:t>
            </a:r>
            <a:r>
              <a:rPr lang="en-US" sz="185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information</a:t>
            </a:r>
            <a:r>
              <a:rPr lang="en-US" sz="185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but the process of </a:t>
            </a:r>
            <a:r>
              <a:rPr lang="en-US" sz="185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checking the data ethics</a:t>
            </a:r>
            <a:r>
              <a:rPr lang="en-US" sz="185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was </a:t>
            </a:r>
            <a:r>
              <a:rPr lang="en-US" sz="185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still implemented</a:t>
            </a:r>
          </a:p>
        </p:txBody>
      </p:sp>
    </p:spTree>
    <p:extLst>
      <p:ext uri="{BB962C8B-B14F-4D97-AF65-F5344CB8AC3E}">
        <p14:creationId xmlns:p14="http://schemas.microsoft.com/office/powerpoint/2010/main" val="2821536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>
            <a:spLocks noGrp="1"/>
          </p:cNvSpPr>
          <p:nvPr>
            <p:ph type="title"/>
          </p:nvPr>
        </p:nvSpPr>
        <p:spPr>
          <a:xfrm>
            <a:off x="192505" y="132369"/>
            <a:ext cx="10515600" cy="574212"/>
          </a:xfrm>
        </p:spPr>
        <p:txBody>
          <a:bodyPr>
            <a:noAutofit/>
          </a:bodyPr>
          <a:lstStyle/>
          <a:p>
            <a:r>
              <a:rPr lang="en-US" sz="2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METHODOLOGY – CTGAN</a:t>
            </a:r>
            <a:endParaRPr lang="en-NZ" sz="25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108067" y="656706"/>
            <a:ext cx="119289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2452571" y="2730415"/>
            <a:ext cx="2350829" cy="998375"/>
          </a:xfrm>
          <a:prstGeom prst="roundRect">
            <a:avLst/>
          </a:prstGeom>
          <a:noFill/>
          <a:ln w="25400">
            <a:solidFill>
              <a:srgbClr val="800000">
                <a:alpha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GENERATOR</a:t>
            </a:r>
            <a:endParaRPr lang="en-NZ" sz="2500" b="1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613833" y="2695321"/>
            <a:ext cx="2815792" cy="1062929"/>
          </a:xfrm>
          <a:prstGeom prst="roundRect">
            <a:avLst/>
          </a:prstGeom>
          <a:noFill/>
          <a:ln w="25400">
            <a:solidFill>
              <a:srgbClr val="800000">
                <a:alpha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DISCRIMINATOR</a:t>
            </a:r>
            <a:endParaRPr lang="en-NZ" sz="2500" b="1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19125" y="2986768"/>
            <a:ext cx="1196387" cy="477054"/>
          </a:xfrm>
          <a:prstGeom prst="rect">
            <a:avLst/>
          </a:prstGeom>
          <a:noFill/>
          <a:ln w="25400">
            <a:solidFill>
              <a:srgbClr val="800000">
                <a:alpha val="95000"/>
              </a:srgb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500" dirty="0">
                <a:solidFill>
                  <a:srgbClr val="800000"/>
                </a:solidFill>
              </a:rPr>
              <a:t>N (0, 1)</a:t>
            </a:r>
            <a:endParaRPr lang="en-NZ" sz="2500" dirty="0">
              <a:solidFill>
                <a:srgbClr val="80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184344" y="4714129"/>
            <a:ext cx="2030363" cy="477054"/>
          </a:xfrm>
          <a:prstGeom prst="rect">
            <a:avLst/>
          </a:prstGeom>
          <a:noFill/>
          <a:ln w="25400">
            <a:solidFill>
              <a:srgbClr val="80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500" dirty="0">
                <a:solidFill>
                  <a:srgbClr val="800000"/>
                </a:solidFill>
              </a:rPr>
              <a:t>REAL DATASET</a:t>
            </a:r>
            <a:endParaRPr lang="en-NZ" sz="2500" dirty="0">
              <a:solidFill>
                <a:srgbClr val="800000"/>
              </a:solidFill>
            </a:endParaRPr>
          </a:p>
        </p:txBody>
      </p:sp>
      <p:cxnSp>
        <p:nvCxnSpPr>
          <p:cNvPr id="49" name="Straight Connector 48"/>
          <p:cNvCxnSpPr>
            <a:stCxn id="41" idx="1"/>
          </p:cNvCxnSpPr>
          <p:nvPr/>
        </p:nvCxnSpPr>
        <p:spPr>
          <a:xfrm flipH="1">
            <a:off x="3636299" y="4952656"/>
            <a:ext cx="548045" cy="0"/>
          </a:xfrm>
          <a:prstGeom prst="line">
            <a:avLst/>
          </a:prstGeom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37" idx="2"/>
          </p:cNvCxnSpPr>
          <p:nvPr/>
        </p:nvCxnSpPr>
        <p:spPr>
          <a:xfrm flipH="1" flipV="1">
            <a:off x="3627986" y="3728790"/>
            <a:ext cx="8313" cy="1226506"/>
          </a:xfrm>
          <a:prstGeom prst="straightConnector1">
            <a:avLst/>
          </a:prstGeom>
          <a:ln w="25400">
            <a:solidFill>
              <a:srgbClr val="8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6218613" y="4946983"/>
            <a:ext cx="811429" cy="5673"/>
          </a:xfrm>
          <a:prstGeom prst="line">
            <a:avLst/>
          </a:prstGeom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endCxn id="38" idx="2"/>
          </p:cNvCxnSpPr>
          <p:nvPr/>
        </p:nvCxnSpPr>
        <p:spPr>
          <a:xfrm flipH="1" flipV="1">
            <a:off x="7021729" y="3758250"/>
            <a:ext cx="7721" cy="1197046"/>
          </a:xfrm>
          <a:prstGeom prst="straightConnector1">
            <a:avLst/>
          </a:prstGeom>
          <a:ln w="25400">
            <a:solidFill>
              <a:srgbClr val="8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37" idx="3"/>
            <a:endCxn id="38" idx="1"/>
          </p:cNvCxnSpPr>
          <p:nvPr/>
        </p:nvCxnSpPr>
        <p:spPr>
          <a:xfrm flipV="1">
            <a:off x="4803400" y="3226786"/>
            <a:ext cx="810433" cy="2817"/>
          </a:xfrm>
          <a:prstGeom prst="straightConnector1">
            <a:avLst/>
          </a:prstGeom>
          <a:ln w="25400">
            <a:solidFill>
              <a:srgbClr val="800000">
                <a:alpha val="95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9044594" y="2692315"/>
            <a:ext cx="1880582" cy="1062929"/>
          </a:xfrm>
          <a:prstGeom prst="ellipse">
            <a:avLst/>
          </a:prstGeom>
          <a:noFill/>
          <a:ln w="31750">
            <a:solidFill>
              <a:srgbClr val="800000">
                <a:alpha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FAKE / REAL</a:t>
            </a:r>
            <a:endParaRPr lang="en-NZ" sz="25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1" name="Straight Arrow Connector 70"/>
          <p:cNvCxnSpPr>
            <a:stCxn id="38" idx="3"/>
            <a:endCxn id="69" idx="2"/>
          </p:cNvCxnSpPr>
          <p:nvPr/>
        </p:nvCxnSpPr>
        <p:spPr>
          <a:xfrm flipV="1">
            <a:off x="8429625" y="3223780"/>
            <a:ext cx="614969" cy="3006"/>
          </a:xfrm>
          <a:prstGeom prst="straightConnector1">
            <a:avLst/>
          </a:prstGeom>
          <a:ln w="25400">
            <a:solidFill>
              <a:srgbClr val="800000">
                <a:alpha val="95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466725" y="1285858"/>
            <a:ext cx="10651123" cy="2981342"/>
          </a:xfrm>
          <a:prstGeom prst="rect">
            <a:avLst/>
          </a:prstGeom>
          <a:noFill/>
          <a:ln w="25400">
            <a:solidFill>
              <a:srgbClr val="800000">
                <a:alpha val="95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rgbClr val="4C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261851" y="4708456"/>
            <a:ext cx="2850148" cy="477054"/>
          </a:xfrm>
          <a:prstGeom prst="rect">
            <a:avLst/>
          </a:prstGeom>
          <a:noFill/>
          <a:ln w="25400">
            <a:solidFill>
              <a:srgbClr val="80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500" dirty="0">
                <a:solidFill>
                  <a:srgbClr val="800000"/>
                </a:solidFill>
              </a:rPr>
              <a:t>SYNTHETIC DATASET</a:t>
            </a:r>
            <a:endParaRPr lang="en-NZ" sz="2500" dirty="0">
              <a:solidFill>
                <a:srgbClr val="800000"/>
              </a:solidFill>
            </a:endParaRPr>
          </a:p>
        </p:txBody>
      </p:sp>
      <p:cxnSp>
        <p:nvCxnSpPr>
          <p:cNvPr id="76" name="Straight Arrow Connector 75"/>
          <p:cNvCxnSpPr>
            <a:endCxn id="74" idx="0"/>
          </p:cNvCxnSpPr>
          <p:nvPr/>
        </p:nvCxnSpPr>
        <p:spPr>
          <a:xfrm>
            <a:off x="9686925" y="4267200"/>
            <a:ext cx="0" cy="441256"/>
          </a:xfrm>
          <a:prstGeom prst="straightConnector1">
            <a:avLst/>
          </a:prstGeom>
          <a:ln w="25400">
            <a:solidFill>
              <a:srgbClr val="8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3627986" y="1780654"/>
            <a:ext cx="6354171" cy="0"/>
          </a:xfrm>
          <a:prstGeom prst="line">
            <a:avLst/>
          </a:prstGeom>
          <a:ln w="25400">
            <a:solidFill>
              <a:srgbClr val="800000">
                <a:alpha val="9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endCxn id="37" idx="0"/>
          </p:cNvCxnSpPr>
          <p:nvPr/>
        </p:nvCxnSpPr>
        <p:spPr>
          <a:xfrm>
            <a:off x="3627986" y="1776437"/>
            <a:ext cx="0" cy="953978"/>
          </a:xfrm>
          <a:prstGeom prst="straightConnector1">
            <a:avLst/>
          </a:prstGeom>
          <a:ln w="25400">
            <a:solidFill>
              <a:srgbClr val="800000">
                <a:alpha val="95000"/>
              </a:srgb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7029450" y="1776437"/>
            <a:ext cx="1" cy="933486"/>
          </a:xfrm>
          <a:prstGeom prst="straightConnector1">
            <a:avLst/>
          </a:prstGeom>
          <a:ln w="25400">
            <a:solidFill>
              <a:srgbClr val="800000">
                <a:alpha val="95000"/>
              </a:srgb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1634" y="169775"/>
            <a:ext cx="380291" cy="412400"/>
          </a:xfrm>
          <a:prstGeom prst="rect">
            <a:avLst/>
          </a:prstGeom>
        </p:spPr>
      </p:pic>
      <p:pic>
        <p:nvPicPr>
          <p:cNvPr id="113" name="Picture 1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6912" y="169775"/>
            <a:ext cx="331046" cy="403361"/>
          </a:xfrm>
          <a:prstGeom prst="rect">
            <a:avLst/>
          </a:prstGeom>
        </p:spPr>
      </p:pic>
      <p:cxnSp>
        <p:nvCxnSpPr>
          <p:cNvPr id="131" name="Straight Arrow Connector 130"/>
          <p:cNvCxnSpPr>
            <a:stCxn id="40" idx="3"/>
            <a:endCxn id="37" idx="1"/>
          </p:cNvCxnSpPr>
          <p:nvPr/>
        </p:nvCxnSpPr>
        <p:spPr>
          <a:xfrm>
            <a:off x="1815512" y="3225295"/>
            <a:ext cx="637059" cy="4308"/>
          </a:xfrm>
          <a:prstGeom prst="straightConnector1">
            <a:avLst/>
          </a:prstGeom>
          <a:ln w="25400">
            <a:solidFill>
              <a:srgbClr val="800000">
                <a:alpha val="95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69" idx="0"/>
          </p:cNvCxnSpPr>
          <p:nvPr/>
        </p:nvCxnSpPr>
        <p:spPr>
          <a:xfrm>
            <a:off x="9984885" y="1776437"/>
            <a:ext cx="0" cy="915878"/>
          </a:xfrm>
          <a:prstGeom prst="line">
            <a:avLst/>
          </a:prstGeom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4774708" y="1051253"/>
            <a:ext cx="2254742" cy="477054"/>
          </a:xfrm>
          <a:prstGeom prst="rect">
            <a:avLst/>
          </a:prstGeom>
          <a:solidFill>
            <a:schemeClr val="bg1"/>
          </a:solidFill>
          <a:ln w="25400">
            <a:solidFill>
              <a:srgbClr val="80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500" dirty="0">
                <a:solidFill>
                  <a:srgbClr val="800000"/>
                </a:solidFill>
              </a:rPr>
              <a:t>CTGAN MODEL</a:t>
            </a:r>
            <a:endParaRPr lang="en-NZ" sz="2500" dirty="0">
              <a:solidFill>
                <a:srgbClr val="800000"/>
              </a:solidFill>
            </a:endParaRPr>
          </a:p>
        </p:txBody>
      </p:sp>
      <p:sp>
        <p:nvSpPr>
          <p:cNvPr id="32" name="Content Placeholder 9"/>
          <p:cNvSpPr>
            <a:spLocks noGrp="1"/>
          </p:cNvSpPr>
          <p:nvPr>
            <p:ph idx="1"/>
          </p:nvPr>
        </p:nvSpPr>
        <p:spPr>
          <a:xfrm>
            <a:off x="1761443" y="5746883"/>
            <a:ext cx="7710244" cy="542683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5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CTGAN model from the ‘</a:t>
            </a:r>
            <a:r>
              <a:rPr lang="en-US" sz="2500" dirty="0" err="1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ctgan</a:t>
            </a:r>
            <a:r>
              <a:rPr lang="en-US" sz="25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 package version 0.2.2</a:t>
            </a:r>
          </a:p>
        </p:txBody>
      </p:sp>
    </p:spTree>
    <p:extLst>
      <p:ext uri="{BB962C8B-B14F-4D97-AF65-F5344CB8AC3E}">
        <p14:creationId xmlns:p14="http://schemas.microsoft.com/office/powerpoint/2010/main" val="3278066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92505" y="132369"/>
            <a:ext cx="10515600" cy="5742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METHODOLOGY – EVALUATION SYSTEM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08067" y="656706"/>
            <a:ext cx="119289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1967149" y="2402039"/>
            <a:ext cx="1678256" cy="1477328"/>
            <a:chOff x="2801645" y="2647837"/>
            <a:chExt cx="1378799" cy="869797"/>
          </a:xfrm>
        </p:grpSpPr>
        <p:sp>
          <p:nvSpPr>
            <p:cNvPr id="7" name="TextBox 6"/>
            <p:cNvSpPr txBox="1"/>
            <p:nvPr/>
          </p:nvSpPr>
          <p:spPr>
            <a:xfrm>
              <a:off x="2801645" y="2647837"/>
              <a:ext cx="1378799" cy="869797"/>
            </a:xfrm>
            <a:prstGeom prst="rect">
              <a:avLst/>
            </a:prstGeom>
            <a:noFill/>
            <a:ln w="25400">
              <a:solidFill>
                <a:srgbClr val="8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8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Individual column</a:t>
              </a:r>
            </a:p>
            <a:p>
              <a:endParaRPr 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Tx/>
                <a:buChar char="-"/>
              </a:pPr>
              <a:endParaRPr 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965886" y="3067575"/>
              <a:ext cx="1049400" cy="380536"/>
            </a:xfrm>
            <a:prstGeom prst="rect">
              <a:avLst/>
            </a:prstGeom>
            <a:noFill/>
            <a:ln w="25400">
              <a:solidFill>
                <a:srgbClr val="8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8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Cosine Similarity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691726" y="3224371"/>
            <a:ext cx="1365137" cy="369332"/>
          </a:xfrm>
          <a:prstGeom prst="rect">
            <a:avLst/>
          </a:prstGeom>
          <a:noFill/>
          <a:ln w="25400">
            <a:solidFill>
              <a:srgbClr val="8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2414" y="3783825"/>
            <a:ext cx="1363643" cy="369332"/>
          </a:xfrm>
          <a:prstGeom prst="rect">
            <a:avLst/>
          </a:prstGeom>
          <a:noFill/>
          <a:ln w="25400">
            <a:solidFill>
              <a:srgbClr val="8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6724" y="4440767"/>
            <a:ext cx="1354270" cy="369332"/>
          </a:xfrm>
          <a:prstGeom prst="rect">
            <a:avLst/>
          </a:prstGeom>
          <a:noFill/>
          <a:ln w="25400">
            <a:solidFill>
              <a:srgbClr val="8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Z2.5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1725" y="5049197"/>
            <a:ext cx="1365139" cy="369332"/>
          </a:xfrm>
          <a:prstGeom prst="rect">
            <a:avLst/>
          </a:prstGeom>
          <a:noFill/>
          <a:ln w="25400">
            <a:solidFill>
              <a:srgbClr val="8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7404" y="1406475"/>
            <a:ext cx="1374536" cy="369332"/>
          </a:xfrm>
          <a:prstGeom prst="rect">
            <a:avLst/>
          </a:prstGeom>
          <a:noFill/>
          <a:ln w="25400">
            <a:solidFill>
              <a:srgbClr val="8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Site_id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1674168" y="3217647"/>
            <a:ext cx="292980" cy="1"/>
          </a:xfrm>
          <a:prstGeom prst="straightConnector1">
            <a:avLst/>
          </a:prstGeom>
          <a:ln w="25400">
            <a:solidFill>
              <a:srgbClr val="8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2" idx="3"/>
          </p:cNvCxnSpPr>
          <p:nvPr/>
        </p:nvCxnSpPr>
        <p:spPr>
          <a:xfrm>
            <a:off x="6056864" y="5233863"/>
            <a:ext cx="510357" cy="0"/>
          </a:xfrm>
          <a:prstGeom prst="straightConnector1">
            <a:avLst/>
          </a:prstGeom>
          <a:ln w="25400">
            <a:solidFill>
              <a:srgbClr val="8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>
            <a:off x="8230478" y="3331243"/>
            <a:ext cx="1592098" cy="2031325"/>
            <a:chOff x="7866251" y="2278987"/>
            <a:chExt cx="1601612" cy="2031325"/>
          </a:xfrm>
        </p:grpSpPr>
        <p:sp>
          <p:nvSpPr>
            <p:cNvPr id="35" name="TextBox 34"/>
            <p:cNvSpPr txBox="1"/>
            <p:nvPr/>
          </p:nvSpPr>
          <p:spPr>
            <a:xfrm>
              <a:off x="7866251" y="2278987"/>
              <a:ext cx="1601612" cy="2031325"/>
            </a:xfrm>
            <a:prstGeom prst="rect">
              <a:avLst/>
            </a:prstGeom>
            <a:noFill/>
            <a:ln w="25400">
              <a:solidFill>
                <a:srgbClr val="8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8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Relationships</a:t>
              </a:r>
            </a:p>
            <a:p>
              <a:endParaRPr 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Tx/>
                <a:buChar char="-"/>
              </a:pPr>
              <a:endParaRPr 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Tx/>
                <a:buChar char="-"/>
              </a:pPr>
              <a:endParaRPr 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Tx/>
                <a:buChar char="-"/>
              </a:pPr>
              <a:endParaRPr 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Tx/>
                <a:buChar char="-"/>
              </a:pPr>
              <a:endParaRPr 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Tx/>
                <a:buChar char="-"/>
              </a:pPr>
              <a:endParaRPr 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943676" y="2824565"/>
              <a:ext cx="1380504" cy="1015663"/>
            </a:xfrm>
            <a:prstGeom prst="rect">
              <a:avLst/>
            </a:prstGeom>
            <a:noFill/>
            <a:ln w="25400">
              <a:solidFill>
                <a:srgbClr val="8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8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Correlation by site_id</a:t>
              </a:r>
            </a:p>
            <a:p>
              <a:pPr algn="ctr"/>
              <a:r>
                <a:rPr lang="en-US" sz="1500" dirty="0">
                  <a:solidFill>
                    <a:srgbClr val="8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(Spearman &amp; Pearson)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0229947" y="3011883"/>
            <a:ext cx="1524599" cy="2631490"/>
            <a:chOff x="10698030" y="1237641"/>
            <a:chExt cx="1533710" cy="2631490"/>
          </a:xfrm>
        </p:grpSpPr>
        <p:sp>
          <p:nvSpPr>
            <p:cNvPr id="30" name="TextBox 29"/>
            <p:cNvSpPr txBox="1"/>
            <p:nvPr/>
          </p:nvSpPr>
          <p:spPr>
            <a:xfrm>
              <a:off x="10698030" y="1237641"/>
              <a:ext cx="1533710" cy="2631490"/>
            </a:xfrm>
            <a:prstGeom prst="rect">
              <a:avLst/>
            </a:prstGeom>
            <a:noFill/>
            <a:ln w="25400">
              <a:solidFill>
                <a:srgbClr val="8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8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Patterns</a:t>
              </a:r>
            </a:p>
            <a:p>
              <a:pPr algn="ctr"/>
              <a:endParaRPr lang="en-US" sz="15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5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5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5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5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5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5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15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Tx/>
                <a:buChar char="-"/>
              </a:pPr>
              <a:endParaRPr lang="en-US" sz="15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Tx/>
                <a:buChar char="-"/>
              </a:pPr>
              <a:endParaRPr lang="en-US" sz="15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834616" y="1601702"/>
              <a:ext cx="1260536" cy="2169825"/>
            </a:xfrm>
            <a:prstGeom prst="rect">
              <a:avLst/>
            </a:prstGeom>
            <a:noFill/>
            <a:ln w="25400">
              <a:solidFill>
                <a:srgbClr val="8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8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Mapping</a:t>
              </a:r>
            </a:p>
            <a:p>
              <a:endParaRPr lang="en-US" sz="15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15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15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Tx/>
                <a:buChar char="-"/>
              </a:pPr>
              <a:endParaRPr lang="en-US" sz="15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Tx/>
                <a:buChar char="-"/>
              </a:pPr>
              <a:endParaRPr lang="en-US" sz="15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Tx/>
                <a:buChar char="-"/>
              </a:pPr>
              <a:endParaRPr lang="en-US" sz="15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Tx/>
                <a:buChar char="-"/>
              </a:pPr>
              <a:endParaRPr lang="en-US" sz="15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Tx/>
                <a:buChar char="-"/>
              </a:pPr>
              <a:endParaRPr lang="en-US" sz="15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25417" y="1979329"/>
              <a:ext cx="1087364" cy="323165"/>
            </a:xfrm>
            <a:prstGeom prst="rect">
              <a:avLst/>
            </a:prstGeom>
            <a:noFill/>
            <a:ln w="25400">
              <a:solidFill>
                <a:srgbClr val="8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8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Averaged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921098" y="2409616"/>
              <a:ext cx="1091682" cy="553998"/>
            </a:xfrm>
            <a:prstGeom prst="rect">
              <a:avLst/>
            </a:prstGeom>
            <a:noFill/>
            <a:ln w="25400">
              <a:solidFill>
                <a:srgbClr val="8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 err="1">
                  <a:solidFill>
                    <a:srgbClr val="8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MinMax</a:t>
              </a:r>
              <a:r>
                <a:rPr lang="en-US" sz="1500" dirty="0">
                  <a:solidFill>
                    <a:srgbClr val="8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scaled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0921097" y="3117314"/>
              <a:ext cx="1091682" cy="553998"/>
            </a:xfrm>
            <a:prstGeom prst="rect">
              <a:avLst/>
            </a:prstGeom>
            <a:noFill/>
            <a:ln w="25400">
              <a:solidFill>
                <a:srgbClr val="8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8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Quantile scaled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6623365" y="4185324"/>
            <a:ext cx="1233178" cy="323165"/>
          </a:xfrm>
          <a:prstGeom prst="rect">
            <a:avLst/>
          </a:prstGeom>
          <a:noFill/>
          <a:ln w="25400">
            <a:solidFill>
              <a:srgbClr val="8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60316" y="2791624"/>
            <a:ext cx="5336716" cy="3010108"/>
          </a:xfrm>
          <a:prstGeom prst="rect">
            <a:avLst/>
          </a:prstGeom>
          <a:noFill/>
          <a:ln w="2540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Straight Arrow Connector 26"/>
          <p:cNvCxnSpPr>
            <a:stCxn id="24" idx="3"/>
            <a:endCxn id="35" idx="1"/>
          </p:cNvCxnSpPr>
          <p:nvPr/>
        </p:nvCxnSpPr>
        <p:spPr>
          <a:xfrm flipV="1">
            <a:off x="7856543" y="4346906"/>
            <a:ext cx="373935" cy="1"/>
          </a:xfrm>
          <a:prstGeom prst="straightConnector1">
            <a:avLst/>
          </a:prstGeom>
          <a:ln w="25400">
            <a:solidFill>
              <a:srgbClr val="8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687404" y="2108541"/>
            <a:ext cx="1374536" cy="369332"/>
          </a:xfrm>
          <a:prstGeom prst="rect">
            <a:avLst/>
          </a:prstGeom>
          <a:noFill/>
          <a:ln w="25400">
            <a:solidFill>
              <a:srgbClr val="8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Event_id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57390" y="1476313"/>
            <a:ext cx="2667674" cy="923330"/>
          </a:xfrm>
          <a:prstGeom prst="rect">
            <a:avLst/>
          </a:prstGeom>
          <a:noFill/>
          <a:ln w="25400">
            <a:solidFill>
              <a:srgbClr val="8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on frequencies</a:t>
            </a:r>
          </a:p>
          <a:p>
            <a:pPr algn="ctr"/>
            <a:r>
              <a:rPr 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(Spearman &amp; Pearson)</a:t>
            </a:r>
          </a:p>
        </p:txBody>
      </p:sp>
      <p:cxnSp>
        <p:nvCxnSpPr>
          <p:cNvPr id="45" name="Straight Connector 44"/>
          <p:cNvCxnSpPr/>
          <p:nvPr/>
        </p:nvCxnSpPr>
        <p:spPr>
          <a:xfrm>
            <a:off x="4172603" y="1592107"/>
            <a:ext cx="0" cy="3666669"/>
          </a:xfrm>
          <a:prstGeom prst="line">
            <a:avLst/>
          </a:prstGeom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3645324" y="3224371"/>
            <a:ext cx="536804" cy="0"/>
          </a:xfrm>
          <a:prstGeom prst="line">
            <a:avLst/>
          </a:prstGeom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76254" y="2863705"/>
            <a:ext cx="1484156" cy="646331"/>
          </a:xfrm>
          <a:prstGeom prst="rect">
            <a:avLst/>
          </a:prstGeom>
          <a:noFill/>
          <a:ln w="25400">
            <a:solidFill>
              <a:srgbClr val="8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Logistic Detection</a:t>
            </a:r>
          </a:p>
        </p:txBody>
      </p:sp>
      <p:cxnSp>
        <p:nvCxnSpPr>
          <p:cNvPr id="78" name="Straight Arrow Connector 77"/>
          <p:cNvCxnSpPr/>
          <p:nvPr/>
        </p:nvCxnSpPr>
        <p:spPr>
          <a:xfrm>
            <a:off x="6061946" y="2290813"/>
            <a:ext cx="505275" cy="0"/>
          </a:xfrm>
          <a:prstGeom prst="straightConnector1">
            <a:avLst/>
          </a:prstGeom>
          <a:ln w="25400">
            <a:solidFill>
              <a:srgbClr val="8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6050994" y="4639495"/>
            <a:ext cx="516227" cy="0"/>
          </a:xfrm>
          <a:prstGeom prst="straightConnector1">
            <a:avLst/>
          </a:prstGeom>
          <a:ln w="25400">
            <a:solidFill>
              <a:srgbClr val="8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>
            <a:off x="6056864" y="3974048"/>
            <a:ext cx="510357" cy="0"/>
          </a:xfrm>
          <a:prstGeom prst="straightConnector1">
            <a:avLst/>
          </a:prstGeom>
          <a:ln w="25400">
            <a:solidFill>
              <a:srgbClr val="8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6061940" y="3419045"/>
            <a:ext cx="495450" cy="0"/>
          </a:xfrm>
          <a:prstGeom prst="straightConnector1">
            <a:avLst/>
          </a:prstGeom>
          <a:ln w="25400">
            <a:solidFill>
              <a:srgbClr val="8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>
            <a:off x="6061946" y="1582582"/>
            <a:ext cx="505275" cy="0"/>
          </a:xfrm>
          <a:prstGeom prst="straightConnector1">
            <a:avLst/>
          </a:prstGeom>
          <a:ln w="25400">
            <a:solidFill>
              <a:srgbClr val="8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 flipV="1">
            <a:off x="9839294" y="4327628"/>
            <a:ext cx="373935" cy="1"/>
          </a:xfrm>
          <a:prstGeom prst="straightConnector1">
            <a:avLst/>
          </a:prstGeom>
          <a:ln w="25400">
            <a:solidFill>
              <a:srgbClr val="8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1634" y="169775"/>
            <a:ext cx="380291" cy="412400"/>
          </a:xfrm>
          <a:prstGeom prst="rect">
            <a:avLst/>
          </a:prstGeom>
        </p:spPr>
      </p:pic>
      <p:pic>
        <p:nvPicPr>
          <p:cNvPr id="108" name="Picture 10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6912" y="169775"/>
            <a:ext cx="331046" cy="403361"/>
          </a:xfrm>
          <a:prstGeom prst="rect">
            <a:avLst/>
          </a:prstGeom>
        </p:spPr>
      </p:pic>
      <p:cxnSp>
        <p:nvCxnSpPr>
          <p:cNvPr id="52" name="Straight Connector 51"/>
          <p:cNvCxnSpPr>
            <a:endCxn id="9" idx="1"/>
          </p:cNvCxnSpPr>
          <p:nvPr/>
        </p:nvCxnSpPr>
        <p:spPr>
          <a:xfrm>
            <a:off x="4165410" y="3409037"/>
            <a:ext cx="526316" cy="0"/>
          </a:xfrm>
          <a:prstGeom prst="line">
            <a:avLst/>
          </a:prstGeom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4165410" y="3971012"/>
            <a:ext cx="526316" cy="0"/>
          </a:xfrm>
          <a:prstGeom prst="line">
            <a:avLst/>
          </a:prstGeom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4174935" y="4628237"/>
            <a:ext cx="526316" cy="0"/>
          </a:xfrm>
          <a:prstGeom prst="line">
            <a:avLst/>
          </a:prstGeom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4165410" y="5247362"/>
            <a:ext cx="526316" cy="0"/>
          </a:xfrm>
          <a:prstGeom prst="line">
            <a:avLst/>
          </a:prstGeom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4165410" y="2294612"/>
            <a:ext cx="526316" cy="0"/>
          </a:xfrm>
          <a:prstGeom prst="line">
            <a:avLst/>
          </a:prstGeom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4165410" y="1580237"/>
            <a:ext cx="526316" cy="0"/>
          </a:xfrm>
          <a:prstGeom prst="line">
            <a:avLst/>
          </a:prstGeom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591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6087097" y="3918492"/>
            <a:ext cx="1695748" cy="27212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400" b="1" dirty="0" err="1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Embedding_dim</a:t>
            </a:r>
            <a:endParaRPr lang="en-US" sz="1400" b="1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400" b="1" dirty="0" err="1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Gen_dim</a:t>
            </a:r>
            <a:endParaRPr lang="en-US" sz="1400" b="1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400" b="1" dirty="0" err="1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Dis_dim</a:t>
            </a:r>
            <a:endParaRPr lang="en-US" sz="1400" b="1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12scale</a:t>
            </a:r>
          </a:p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400" b="1" dirty="0" err="1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Batch_size</a:t>
            </a:r>
            <a:endParaRPr lang="en-US" sz="1400" b="1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</a:t>
            </a:r>
            <a:endParaRPr lang="en-NZ" sz="1400" b="1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691045" y="3917346"/>
            <a:ext cx="4326913" cy="27223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size of random sample passed to Generator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size of Generator network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size of Discriminator network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weight decay for the Adam </a:t>
            </a:r>
            <a:r>
              <a:rPr lang="en-US" sz="1400" dirty="0" err="1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Optimiser</a:t>
            </a:r>
            <a:endParaRPr lang="en-US" sz="14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number of data samples to process in each step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number of training epochs</a:t>
            </a:r>
            <a:endParaRPr lang="en-NZ" sz="14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876800" y="3918493"/>
            <a:ext cx="1343648" cy="27518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sz="14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en-US" sz="14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(512, 256, 64)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en-US" sz="14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(512, 256, 64)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en-US" sz="14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1e-4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en-US" sz="14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3000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en-US" sz="14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</a:t>
            </a:r>
            <a:endParaRPr lang="en-NZ" sz="14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16200000">
            <a:off x="3155590" y="5044917"/>
            <a:ext cx="2721757" cy="400110"/>
          </a:xfrm>
          <a:prstGeom prst="rect">
            <a:avLst/>
          </a:prstGeom>
          <a:noFill/>
          <a:ln w="25400">
            <a:solidFill>
              <a:srgbClr val="4C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Hyperparameters</a:t>
            </a:r>
            <a:endParaRPr lang="en-NZ" sz="2000" b="1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828670" y="3884093"/>
            <a:ext cx="7237875" cy="2721757"/>
          </a:xfrm>
          <a:prstGeom prst="rect">
            <a:avLst/>
          </a:prstGeom>
          <a:noFill/>
          <a:ln w="25400">
            <a:solidFill>
              <a:srgbClr val="4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92505" y="132369"/>
            <a:ext cx="10515600" cy="5742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RESULTS – Sub-dataset &amp; </a:t>
            </a:r>
            <a:r>
              <a:rPr lang="en-US" sz="25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Hyperparameters</a:t>
            </a:r>
            <a:endParaRPr lang="en-US" sz="25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08067" y="656706"/>
            <a:ext cx="119289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1634" y="169775"/>
            <a:ext cx="380291" cy="412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6912" y="169775"/>
            <a:ext cx="331046" cy="403361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345488"/>
              </p:ext>
            </p:extLst>
          </p:nvPr>
        </p:nvGraphicFramePr>
        <p:xfrm>
          <a:off x="204163" y="997528"/>
          <a:ext cx="3785626" cy="560832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138563">
                  <a:extLst>
                    <a:ext uri="{9D8B030D-6E8A-4147-A177-3AD203B41FA5}">
                      <a16:colId xmlns:a16="http://schemas.microsoft.com/office/drawing/2014/main" val="2564448565"/>
                    </a:ext>
                  </a:extLst>
                </a:gridCol>
                <a:gridCol w="1024098">
                  <a:extLst>
                    <a:ext uri="{9D8B030D-6E8A-4147-A177-3AD203B41FA5}">
                      <a16:colId xmlns:a16="http://schemas.microsoft.com/office/drawing/2014/main" val="2690926750"/>
                    </a:ext>
                  </a:extLst>
                </a:gridCol>
                <a:gridCol w="1622965">
                  <a:extLst>
                    <a:ext uri="{9D8B030D-6E8A-4147-A177-3AD203B41FA5}">
                      <a16:colId xmlns:a16="http://schemas.microsoft.com/office/drawing/2014/main" val="3271977344"/>
                    </a:ext>
                  </a:extLst>
                </a:gridCol>
              </a:tblGrid>
              <a:tr h="8938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5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 names</a:t>
                      </a:r>
                      <a:endParaRPr lang="en-NZ" sz="15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500" b="1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Types</a:t>
                      </a:r>
                      <a:endParaRPr lang="en-NZ" sz="15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Sub-dataset</a:t>
                      </a:r>
                      <a:endParaRPr lang="en-NZ" sz="15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500" b="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(145756 x 8)</a:t>
                      </a:r>
                      <a:endParaRPr lang="en-NZ" sz="1500" b="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63481"/>
                  </a:ext>
                </a:extLst>
              </a:tr>
              <a:tr h="6078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500" b="1" dirty="0" err="1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Event_id</a:t>
                      </a:r>
                      <a:endParaRPr lang="en-NZ" sz="1500" b="1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500" dirty="0" err="1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Pos</a:t>
                      </a:r>
                      <a:r>
                        <a:rPr lang="en-US" sz="15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500" dirty="0" err="1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</a:t>
                      </a:r>
                      <a:endParaRPr lang="en-NZ" sz="15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5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NZ" sz="15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591169"/>
                  </a:ext>
                </a:extLst>
              </a:tr>
              <a:tr h="58086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500" b="1" dirty="0" err="1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Site_id</a:t>
                      </a:r>
                      <a:endParaRPr lang="en-NZ" sz="1500" b="1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500" b="1" i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Pos</a:t>
                      </a:r>
                      <a:r>
                        <a:rPr lang="en-US" sz="1500" b="1" i="1" baseline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int</a:t>
                      </a:r>
                      <a:endParaRPr lang="en-NZ" sz="1500" b="1" i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NZ" sz="15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570562"/>
                  </a:ext>
                </a:extLst>
              </a:tr>
              <a:tr h="6078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500" b="1" dirty="0" err="1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Gmv_PGA</a:t>
                      </a:r>
                      <a:endParaRPr lang="en-NZ" sz="1500" b="1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500" dirty="0" err="1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Pos</a:t>
                      </a:r>
                      <a:r>
                        <a:rPr lang="en-US" sz="15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float</a:t>
                      </a:r>
                      <a:endParaRPr lang="en-NZ" sz="15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50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NZ" sz="150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043929"/>
                  </a:ext>
                </a:extLst>
              </a:tr>
              <a:tr h="6619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500" b="1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Vs30</a:t>
                      </a:r>
                      <a:endParaRPr lang="en-NZ" sz="1500" b="1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500" dirty="0" err="1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Pos</a:t>
                      </a:r>
                      <a:r>
                        <a:rPr lang="en-US" sz="15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float</a:t>
                      </a:r>
                      <a:endParaRPr lang="en-NZ" sz="15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5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NZ" sz="15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642574"/>
                  </a:ext>
                </a:extLst>
              </a:tr>
              <a:tr h="6078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500" b="1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Z2.5</a:t>
                      </a:r>
                      <a:endParaRPr lang="en-NZ" sz="1500" b="1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500" dirty="0" err="1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Pos</a:t>
                      </a:r>
                      <a:r>
                        <a:rPr lang="en-US" sz="15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float</a:t>
                      </a:r>
                      <a:endParaRPr lang="en-NZ" sz="15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5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NZ" sz="15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085252"/>
                  </a:ext>
                </a:extLst>
              </a:tr>
              <a:tr h="5943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500" b="1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Z1.0</a:t>
                      </a:r>
                      <a:endParaRPr lang="en-NZ" sz="1500" b="1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500" dirty="0" err="1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Pos</a:t>
                      </a:r>
                      <a:r>
                        <a:rPr lang="en-US" sz="15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float</a:t>
                      </a:r>
                      <a:endParaRPr lang="en-NZ" sz="15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5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NZ" sz="15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254268"/>
                  </a:ext>
                </a:extLst>
              </a:tr>
              <a:tr h="5673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500" b="1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</a:t>
                      </a:r>
                      <a:endParaRPr lang="en-NZ" sz="1500" b="1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500" dirty="0" err="1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Pos</a:t>
                      </a:r>
                      <a:r>
                        <a:rPr lang="en-US" sz="15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float</a:t>
                      </a:r>
                      <a:endParaRPr lang="en-NZ" sz="15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5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NZ" sz="15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811623"/>
                  </a:ext>
                </a:extLst>
              </a:tr>
              <a:tr h="4863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500" b="1" dirty="0" err="1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Lat</a:t>
                      </a:r>
                      <a:endParaRPr lang="en-NZ" sz="1500" b="1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B9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500" dirty="0" err="1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Neg</a:t>
                      </a:r>
                      <a:r>
                        <a:rPr lang="en-US" sz="15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float</a:t>
                      </a:r>
                      <a:endParaRPr lang="en-NZ" sz="15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500" dirty="0"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NZ" sz="1500" dirty="0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324468"/>
                  </a:ext>
                </a:extLst>
              </a:tr>
            </a:tbl>
          </a:graphicData>
        </a:graphic>
      </p:graphicFrame>
      <p:sp>
        <p:nvSpPr>
          <p:cNvPr id="14" name="Content Placeholder 9"/>
          <p:cNvSpPr>
            <a:spLocks noGrp="1"/>
          </p:cNvSpPr>
          <p:nvPr>
            <p:ph idx="1"/>
          </p:nvPr>
        </p:nvSpPr>
        <p:spPr>
          <a:xfrm>
            <a:off x="4316413" y="914398"/>
            <a:ext cx="7875587" cy="305974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Reduced the </a:t>
            </a:r>
            <a:r>
              <a:rPr lang="en-US" sz="18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dataset </a:t>
            </a:r>
            <a:r>
              <a:rPr lang="en-US" sz="18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a </a:t>
            </a:r>
            <a:r>
              <a:rPr lang="en-US" sz="18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sub-dataset</a:t>
            </a:r>
            <a:r>
              <a:rPr lang="en-US" sz="18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changing the longitude and the latitude</a:t>
            </a:r>
          </a:p>
          <a:p>
            <a:pPr marL="896938" lvl="1" indent="-3556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-39.70 &lt; latitude &lt; -39.40</a:t>
            </a:r>
          </a:p>
          <a:p>
            <a:pPr marL="896938" lvl="1" indent="-3556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176.55 &lt; longitude &lt; 177.90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8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sub-dataset</a:t>
            </a:r>
            <a:r>
              <a:rPr lang="en-US" sz="18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was used to generate a </a:t>
            </a:r>
            <a:r>
              <a:rPr lang="en-US" sz="18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synthetic dataset</a:t>
            </a:r>
            <a:r>
              <a:rPr lang="en-US" sz="18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The similarity evaluation was processed on these two datasets</a:t>
            </a:r>
          </a:p>
        </p:txBody>
      </p:sp>
    </p:spTree>
    <p:extLst>
      <p:ext uri="{BB962C8B-B14F-4D97-AF65-F5344CB8AC3E}">
        <p14:creationId xmlns:p14="http://schemas.microsoft.com/office/powerpoint/2010/main" val="70518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92505" y="132369"/>
            <a:ext cx="10515600" cy="5742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RESULTS – Correlations – Discrete variables</a:t>
            </a:r>
            <a:endParaRPr lang="en-NZ" sz="25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08067" y="656706"/>
            <a:ext cx="119289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1634" y="169775"/>
            <a:ext cx="380291" cy="412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6912" y="169775"/>
            <a:ext cx="331046" cy="4033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8369" y="5298033"/>
            <a:ext cx="1340431" cy="400110"/>
          </a:xfrm>
          <a:prstGeom prst="rect">
            <a:avLst/>
          </a:prstGeom>
          <a:noFill/>
          <a:ln w="25400">
            <a:solidFill>
              <a:srgbClr val="80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err="1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Event_id</a:t>
            </a:r>
            <a:endParaRPr lang="en-NZ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8369" y="1844975"/>
            <a:ext cx="1340431" cy="400110"/>
          </a:xfrm>
          <a:prstGeom prst="rect">
            <a:avLst/>
          </a:prstGeom>
          <a:noFill/>
          <a:ln w="25400">
            <a:solidFill>
              <a:srgbClr val="80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err="1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Site_id</a:t>
            </a:r>
            <a:endParaRPr lang="en-NZ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861" y="3840739"/>
            <a:ext cx="2571751" cy="252207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861" y="935452"/>
            <a:ext cx="2571751" cy="24302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76874" y="1537198"/>
            <a:ext cx="2346845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Pearson:     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0.735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Spearman:  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0.747</a:t>
            </a:r>
            <a:endParaRPr lang="en-NZ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76873" y="4965542"/>
            <a:ext cx="2346845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Pearson:     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0.975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Spearman:  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0.982</a:t>
            </a:r>
            <a:endParaRPr lang="en-NZ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7541249" y="1043731"/>
            <a:ext cx="4476750" cy="9652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 for geometric points</a:t>
            </a:r>
            <a:endParaRPr lang="en-NZ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number of the unique </a:t>
            </a:r>
            <a:r>
              <a:rPr lang="en-US" sz="2000" dirty="0" err="1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site_id</a:t>
            </a:r>
            <a:endParaRPr lang="en-US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ight Arrow 15"/>
          <p:cNvSpPr/>
          <p:nvPr/>
        </p:nvSpPr>
        <p:spPr>
          <a:xfrm rot="5400000">
            <a:off x="9506304" y="1812025"/>
            <a:ext cx="546639" cy="621222"/>
          </a:xfrm>
          <a:prstGeom prst="rightArrow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7672538" y="2595602"/>
            <a:ext cx="4214170" cy="3564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variable for continuous variables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7638265" y="5101776"/>
            <a:ext cx="4214170" cy="3564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important</a:t>
            </a:r>
          </a:p>
        </p:txBody>
      </p:sp>
    </p:spTree>
    <p:extLst>
      <p:ext uri="{BB962C8B-B14F-4D97-AF65-F5344CB8AC3E}">
        <p14:creationId xmlns:p14="http://schemas.microsoft.com/office/powerpoint/2010/main" val="1186083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92505" y="132369"/>
            <a:ext cx="10515600" cy="5742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RESULTS – Correlations &amp; Mapping – Continuous variables</a:t>
            </a:r>
            <a:endParaRPr lang="en-NZ" sz="25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08067" y="656706"/>
            <a:ext cx="119289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307644" y="1167222"/>
            <a:ext cx="866227" cy="400110"/>
          </a:xfrm>
          <a:prstGeom prst="rect">
            <a:avLst/>
          </a:prstGeom>
          <a:noFill/>
          <a:ln w="25400">
            <a:solidFill>
              <a:srgbClr val="80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Vs30</a:t>
            </a:r>
            <a:endParaRPr lang="en-NZ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338" y="3338409"/>
            <a:ext cx="2740173" cy="288984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0" y="3390164"/>
            <a:ext cx="2792228" cy="281221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89953" y="1962626"/>
            <a:ext cx="2699487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Pearson:     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0.712146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Spearman:  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0.688790</a:t>
            </a:r>
            <a:endParaRPr lang="en-NZ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34652" y="1185537"/>
            <a:ext cx="866227" cy="400110"/>
          </a:xfrm>
          <a:prstGeom prst="rect">
            <a:avLst/>
          </a:prstGeom>
          <a:noFill/>
          <a:ln w="25400">
            <a:solidFill>
              <a:srgbClr val="80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Z2.5</a:t>
            </a:r>
            <a:endParaRPr lang="en-NZ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18023" y="1962626"/>
            <a:ext cx="2699487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Pearson:     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0.737243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Spearman:  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0.657388</a:t>
            </a:r>
            <a:endParaRPr lang="en-NZ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014" y="3338409"/>
            <a:ext cx="2846717" cy="2889846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536" y="3364285"/>
            <a:ext cx="2889845" cy="2838091"/>
          </a:xfrm>
          <a:prstGeom prst="rect">
            <a:avLst/>
          </a:prstGeom>
        </p:spPr>
      </p:pic>
      <p:pic>
        <p:nvPicPr>
          <p:cNvPr id="31" name="Content Placeholder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1634" y="169775"/>
            <a:ext cx="380291" cy="4124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6912" y="169775"/>
            <a:ext cx="331046" cy="40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70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92505" y="132369"/>
            <a:ext cx="10515600" cy="5742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RESULTS – Correlations &amp; Mapping – Continuous variables</a:t>
            </a:r>
            <a:endParaRPr lang="en-NZ" sz="25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08067" y="656706"/>
            <a:ext cx="119289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1634" y="169775"/>
            <a:ext cx="380291" cy="412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6912" y="169775"/>
            <a:ext cx="331046" cy="4033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93902" y="1096731"/>
            <a:ext cx="866227" cy="400110"/>
          </a:xfrm>
          <a:prstGeom prst="rect">
            <a:avLst/>
          </a:prstGeom>
          <a:noFill/>
          <a:ln w="25400">
            <a:solidFill>
              <a:srgbClr val="80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Z1.0</a:t>
            </a:r>
            <a:endParaRPr lang="en-NZ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12264" y="1096731"/>
            <a:ext cx="866227" cy="400110"/>
          </a:xfrm>
          <a:prstGeom prst="rect">
            <a:avLst/>
          </a:prstGeom>
          <a:noFill/>
          <a:ln w="25400">
            <a:solidFill>
              <a:srgbClr val="80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PGA</a:t>
            </a:r>
            <a:endParaRPr lang="en-NZ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95633" y="1886991"/>
            <a:ext cx="2843669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Pearson:     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-0.029350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Spearman:  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-0.014253</a:t>
            </a:r>
            <a:endParaRPr lang="en-NZ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156" y="3372926"/>
            <a:ext cx="2700062" cy="290710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567" y="3372926"/>
            <a:ext cx="2794949" cy="290710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466" y="3372926"/>
            <a:ext cx="2931659" cy="290710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6" y="3372926"/>
            <a:ext cx="3003320" cy="29071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77273" y="1911251"/>
            <a:ext cx="2699487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Pearson:     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0.717711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Spearman:  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0.657116</a:t>
            </a:r>
            <a:endParaRPr lang="en-NZ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807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7380853"/>
              </p:ext>
            </p:extLst>
          </p:nvPr>
        </p:nvGraphicFramePr>
        <p:xfrm>
          <a:off x="1081497" y="1071601"/>
          <a:ext cx="1553548" cy="1738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548">
                  <a:extLst>
                    <a:ext uri="{9D8B030D-6E8A-4147-A177-3AD203B41FA5}">
                      <a16:colId xmlns:a16="http://schemas.microsoft.com/office/drawing/2014/main" val="2647700752"/>
                    </a:ext>
                  </a:extLst>
                </a:gridCol>
              </a:tblGrid>
              <a:tr h="55009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8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Gmv_PGA</a:t>
                      </a:r>
                      <a:endParaRPr lang="en-NZ" sz="2000" dirty="0">
                        <a:solidFill>
                          <a:srgbClr val="8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566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8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0.0025</a:t>
                      </a:r>
                      <a:endParaRPr lang="en-NZ" sz="2000" dirty="0">
                        <a:solidFill>
                          <a:srgbClr val="8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518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8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0.0017</a:t>
                      </a:r>
                      <a:endParaRPr lang="en-NZ" sz="2000" dirty="0">
                        <a:solidFill>
                          <a:srgbClr val="8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B9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108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8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en-NZ" sz="2000" dirty="0">
                        <a:solidFill>
                          <a:srgbClr val="8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28575" cap="flat" cmpd="sng" algn="ctr">
                      <a:solidFill>
                        <a:srgbClr val="4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B9B9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233874"/>
                  </a:ext>
                </a:extLst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192505" y="132369"/>
            <a:ext cx="10515600" cy="5742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PROBLEMS</a:t>
            </a:r>
            <a:endParaRPr lang="en-NZ" sz="25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08067" y="656706"/>
            <a:ext cx="119289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1634" y="169775"/>
            <a:ext cx="380291" cy="412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6912" y="169775"/>
            <a:ext cx="331046" cy="403361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3397046" y="1874092"/>
            <a:ext cx="4980038" cy="358641"/>
          </a:xfrm>
          <a:prstGeom prst="rightArrow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Oval 9"/>
          <p:cNvSpPr/>
          <p:nvPr/>
        </p:nvSpPr>
        <p:spPr>
          <a:xfrm>
            <a:off x="8911513" y="1322276"/>
            <a:ext cx="2087298" cy="1274444"/>
          </a:xfrm>
          <a:prstGeom prst="ellipse">
            <a:avLst/>
          </a:prstGeom>
          <a:noFill/>
          <a:ln w="2540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OUTLIERS</a:t>
            </a:r>
            <a:endParaRPr lang="en-NZ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23072" y="1504760"/>
            <a:ext cx="4204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DIFFERENCES</a:t>
            </a:r>
            <a:endParaRPr lang="en-NZ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1622295" y="2984960"/>
            <a:ext cx="471949" cy="1327355"/>
          </a:xfrm>
          <a:prstGeom prst="downArrow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Oval 12"/>
          <p:cNvSpPr/>
          <p:nvPr/>
        </p:nvSpPr>
        <p:spPr>
          <a:xfrm>
            <a:off x="730004" y="4486859"/>
            <a:ext cx="2256530" cy="1661652"/>
          </a:xfrm>
          <a:prstGeom prst="ellipse">
            <a:avLst/>
          </a:prstGeom>
          <a:noFill/>
          <a:ln w="2540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NEAR</a:t>
            </a:r>
          </a:p>
          <a:p>
            <a:pPr algn="ctr"/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ZERO</a:t>
            </a:r>
          </a:p>
          <a:p>
            <a:pPr algn="ctr"/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VARIANCE</a:t>
            </a:r>
            <a:endParaRPr lang="en-NZ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89117" y="4344495"/>
            <a:ext cx="2340077" cy="2169825"/>
          </a:xfrm>
          <a:prstGeom prst="rect">
            <a:avLst/>
          </a:prstGeom>
          <a:noFill/>
          <a:ln w="25400">
            <a:solidFill>
              <a:srgbClr val="800000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CTGAN could </a:t>
            </a:r>
            <a: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3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learn</a:t>
            </a:r>
            <a:endParaRPr lang="en-NZ" sz="3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9955162" y="2733675"/>
            <a:ext cx="7988" cy="1485900"/>
          </a:xfrm>
          <a:prstGeom prst="straightConnector1">
            <a:avLst/>
          </a:prstGeom>
          <a:ln w="50800">
            <a:solidFill>
              <a:srgbClr val="8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3397046" y="5317685"/>
            <a:ext cx="4980038" cy="0"/>
          </a:xfrm>
          <a:prstGeom prst="straightConnector1">
            <a:avLst/>
          </a:prstGeom>
          <a:ln w="50800">
            <a:solidFill>
              <a:srgbClr val="8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67349" y="4994519"/>
            <a:ext cx="17907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INTERACTION</a:t>
            </a:r>
          </a:p>
          <a:p>
            <a:pPr algn="ctr"/>
            <a:r>
              <a:rPr 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SCALING</a:t>
            </a:r>
            <a:endParaRPr lang="en-NZ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27635" y="3174626"/>
            <a:ext cx="355927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TRANSFORM</a:t>
            </a:r>
          </a:p>
          <a:p>
            <a:pPr algn="ctr"/>
            <a:r>
              <a:rPr 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REMOVING OUTLIERS</a:t>
            </a:r>
            <a:endParaRPr lang="en-NZ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ight Arrow 20"/>
          <p:cNvSpPr/>
          <p:nvPr/>
        </p:nvSpPr>
        <p:spPr>
          <a:xfrm rot="1245711">
            <a:off x="2923729" y="3518316"/>
            <a:ext cx="5677941" cy="358641"/>
          </a:xfrm>
          <a:prstGeom prst="rightArrow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08695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067" y="1750599"/>
            <a:ext cx="6797558" cy="470195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 1: 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CTGAN model from the ‘</a:t>
            </a:r>
            <a:r>
              <a:rPr lang="en-US" sz="2000" dirty="0" err="1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ctgan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 package version 0.2.2 </a:t>
            </a:r>
            <a:r>
              <a:rPr lang="en-US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LEARN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underlying features of the earthquake modelling processes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 2: 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evaluate the similarity, </a:t>
            </a:r>
            <a:r>
              <a:rPr lang="en-US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evaluation system was developed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1688" lvl="1" indent="-344488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Logistic Detection</a:t>
            </a:r>
          </a:p>
          <a:p>
            <a:pPr marL="801688" lvl="1" indent="-344488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Cosine Similarity</a:t>
            </a:r>
          </a:p>
          <a:p>
            <a:pPr marL="801688" lvl="1" indent="-344488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</a:p>
          <a:p>
            <a:pPr marL="801688" lvl="1" indent="-344488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92505" y="132369"/>
            <a:ext cx="10515600" cy="5742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DISCUSSIONS &amp; FURTHER RESEARCH</a:t>
            </a:r>
            <a:endParaRPr lang="en-NZ" sz="25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08067" y="656706"/>
            <a:ext cx="119289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1634" y="169775"/>
            <a:ext cx="380291" cy="412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6912" y="169775"/>
            <a:ext cx="331046" cy="403361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7019926" y="1750599"/>
            <a:ext cx="5017123" cy="48407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Extended research:</a:t>
            </a:r>
          </a:p>
          <a:p>
            <a:pPr marL="806450" lvl="1" indent="-3492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Trying the CTGAN model with other sub-datasets or the whole dataset</a:t>
            </a:r>
          </a:p>
          <a:p>
            <a:pPr marL="806450" lvl="1" indent="-3492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Solutions for PGA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research:</a:t>
            </a:r>
          </a:p>
          <a:p>
            <a:pPr marL="801688" lvl="1" indent="-344488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Further applications of generative models in hazard analysis such as flooding and volcanoes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6902393" y="796482"/>
            <a:ext cx="0" cy="5807294"/>
          </a:xfrm>
          <a:prstGeom prst="line">
            <a:avLst/>
          </a:prstGeom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633264" y="904045"/>
            <a:ext cx="3747164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DISCUSSIONS</a:t>
            </a:r>
            <a:endParaRPr lang="en-NZ" sz="3000" b="1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46815" y="904045"/>
            <a:ext cx="4363343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FURTHER RESEARCH</a:t>
            </a:r>
            <a:endParaRPr lang="en-NZ" sz="3000" b="1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104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90DFE-4CB7-41C9-8583-63F060AAE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3DDAC-D213-44FD-B8E0-E4FEA994E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22660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480421-9ACD-4B8F-A829-9D5C6313BA76}"/>
              </a:ext>
            </a:extLst>
          </p:cNvPr>
          <p:cNvSpPr txBox="1"/>
          <p:nvPr/>
        </p:nvSpPr>
        <p:spPr>
          <a:xfrm>
            <a:off x="4668588" y="2701912"/>
            <a:ext cx="189309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Subset dataset</a:t>
            </a:r>
            <a:endParaRPr lang="en-NZ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05FB3C-551C-439D-8555-4F8B1EFDAD50}"/>
              </a:ext>
            </a:extLst>
          </p:cNvPr>
          <p:cNvSpPr txBox="1"/>
          <p:nvPr/>
        </p:nvSpPr>
        <p:spPr>
          <a:xfrm>
            <a:off x="4668589" y="4929715"/>
            <a:ext cx="18930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Synthetic dataset</a:t>
            </a:r>
            <a:endParaRPr lang="en-NZ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191C46-B559-4475-957D-4B1B20B529AC}"/>
              </a:ext>
            </a:extLst>
          </p:cNvPr>
          <p:cNvSpPr txBox="1"/>
          <p:nvPr/>
        </p:nvSpPr>
        <p:spPr>
          <a:xfrm>
            <a:off x="4668589" y="5762739"/>
            <a:ext cx="189309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Evaluation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8463D2-D58B-41E1-AFF2-10F18489AEE3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5615137" y="5299047"/>
            <a:ext cx="1" cy="4636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6C57838-7C96-438D-84E9-B2B61B6153EC}"/>
              </a:ext>
            </a:extLst>
          </p:cNvPr>
          <p:cNvSpPr txBox="1"/>
          <p:nvPr/>
        </p:nvSpPr>
        <p:spPr>
          <a:xfrm>
            <a:off x="7763449" y="2805675"/>
            <a:ext cx="2295331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Comparison on</a:t>
            </a:r>
          </a:p>
          <a:p>
            <a:pPr marL="285750" indent="-285750">
              <a:buFontTx/>
              <a:buChar char="-"/>
            </a:pPr>
            <a:r>
              <a:rPr lang="en-US" dirty="0"/>
              <a:t>Correlations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Variances</a:t>
            </a:r>
          </a:p>
          <a:p>
            <a:pPr marL="285750" indent="-285750">
              <a:buFontTx/>
              <a:buChar char="-"/>
            </a:pPr>
            <a:r>
              <a:rPr lang="en-US" dirty="0"/>
              <a:t>Distributions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Boxplots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5499F63D-B207-438C-AFD8-6B4B61684EF9}"/>
              </a:ext>
            </a:extLst>
          </p:cNvPr>
          <p:cNvSpPr/>
          <p:nvPr/>
        </p:nvSpPr>
        <p:spPr>
          <a:xfrm>
            <a:off x="6894712" y="1680025"/>
            <a:ext cx="363893" cy="372862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2718D0-D152-492E-BDF8-820738CC8F23}"/>
              </a:ext>
            </a:extLst>
          </p:cNvPr>
          <p:cNvSpPr txBox="1"/>
          <p:nvPr/>
        </p:nvSpPr>
        <p:spPr>
          <a:xfrm>
            <a:off x="4668588" y="581940"/>
            <a:ext cx="189309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OpenQuake Engine</a:t>
            </a:r>
          </a:p>
          <a:p>
            <a:pPr algn="ctr"/>
            <a:r>
              <a:rPr lang="en-US" dirty="0"/>
              <a:t> (PSHA)</a:t>
            </a:r>
            <a:endParaRPr lang="en-NZ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05791D-4D9B-4DED-B8E2-86D0370DF560}"/>
              </a:ext>
            </a:extLst>
          </p:cNvPr>
          <p:cNvSpPr txBox="1"/>
          <p:nvPr/>
        </p:nvSpPr>
        <p:spPr>
          <a:xfrm>
            <a:off x="4668588" y="1769905"/>
            <a:ext cx="189309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Full earthquake data</a:t>
            </a:r>
            <a:endParaRPr lang="en-NZ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B868E0-C139-4D18-B103-01818142074E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5615137" y="1505270"/>
            <a:ext cx="0" cy="2646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D6CE7E1-053B-40D0-8A7C-A190B5F6431A}"/>
              </a:ext>
            </a:extLst>
          </p:cNvPr>
          <p:cNvSpPr txBox="1"/>
          <p:nvPr/>
        </p:nvSpPr>
        <p:spPr>
          <a:xfrm>
            <a:off x="4668588" y="3309611"/>
            <a:ext cx="95858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80 %</a:t>
            </a:r>
            <a:endParaRPr lang="en-NZ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056974-FA8F-4DFF-BAE4-7F10B6BCA389}"/>
              </a:ext>
            </a:extLst>
          </p:cNvPr>
          <p:cNvSpPr txBox="1"/>
          <p:nvPr/>
        </p:nvSpPr>
        <p:spPr>
          <a:xfrm>
            <a:off x="5861478" y="3309611"/>
            <a:ext cx="70020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20 %</a:t>
            </a:r>
            <a:endParaRPr lang="en-NZ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78DC5B-C2CF-4CF9-96EB-591FF3EB6664}"/>
              </a:ext>
            </a:extLst>
          </p:cNvPr>
          <p:cNvCxnSpPr/>
          <p:nvPr/>
        </p:nvCxnSpPr>
        <p:spPr>
          <a:xfrm>
            <a:off x="6220455" y="3066664"/>
            <a:ext cx="0" cy="2429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8FD5372-205D-49CE-9F8C-AA6A1C306FE7}"/>
              </a:ext>
            </a:extLst>
          </p:cNvPr>
          <p:cNvCxnSpPr>
            <a:stCxn id="11" idx="2"/>
            <a:endCxn id="4" idx="0"/>
          </p:cNvCxnSpPr>
          <p:nvPr/>
        </p:nvCxnSpPr>
        <p:spPr>
          <a:xfrm>
            <a:off x="5615137" y="2416236"/>
            <a:ext cx="0" cy="2856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562FA4-D069-4F3E-B2A3-211616E92E59}"/>
              </a:ext>
            </a:extLst>
          </p:cNvPr>
          <p:cNvCxnSpPr/>
          <p:nvPr/>
        </p:nvCxnSpPr>
        <p:spPr>
          <a:xfrm>
            <a:off x="5169928" y="3075658"/>
            <a:ext cx="0" cy="2429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7C89BB5-5E60-4A27-B8F5-B82BA16C2CE8}"/>
              </a:ext>
            </a:extLst>
          </p:cNvPr>
          <p:cNvSpPr txBox="1"/>
          <p:nvPr/>
        </p:nvSpPr>
        <p:spPr>
          <a:xfrm>
            <a:off x="4668589" y="4004501"/>
            <a:ext cx="18930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CTGAN Modelling</a:t>
            </a:r>
            <a:endParaRPr lang="en-NZ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35C130-3505-42E4-9D04-E6072E596201}"/>
              </a:ext>
            </a:extLst>
          </p:cNvPr>
          <p:cNvCxnSpPr>
            <a:stCxn id="14" idx="2"/>
          </p:cNvCxnSpPr>
          <p:nvPr/>
        </p:nvCxnSpPr>
        <p:spPr>
          <a:xfrm flipH="1">
            <a:off x="6211581" y="3678943"/>
            <a:ext cx="1" cy="3255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2F3531-1285-4CE6-B4E5-E8AC4B9AA524}"/>
              </a:ext>
            </a:extLst>
          </p:cNvPr>
          <p:cNvCxnSpPr>
            <a:stCxn id="18" idx="2"/>
            <a:endCxn id="5" idx="0"/>
          </p:cNvCxnSpPr>
          <p:nvPr/>
        </p:nvCxnSpPr>
        <p:spPr>
          <a:xfrm>
            <a:off x="5615137" y="4373833"/>
            <a:ext cx="0" cy="5558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002BAD1-47C2-404C-95B7-B4F91C44E5B7}"/>
              </a:ext>
            </a:extLst>
          </p:cNvPr>
          <p:cNvSpPr txBox="1"/>
          <p:nvPr/>
        </p:nvSpPr>
        <p:spPr>
          <a:xfrm>
            <a:off x="1092557" y="3866001"/>
            <a:ext cx="307118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Model selection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Hyperparameters tuning</a:t>
            </a:r>
            <a:endParaRPr lang="en-NZ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28DB855-CE23-4455-ABDE-B346C51E38A8}"/>
              </a:ext>
            </a:extLst>
          </p:cNvPr>
          <p:cNvCxnSpPr>
            <a:stCxn id="21" idx="3"/>
            <a:endCxn id="18" idx="1"/>
          </p:cNvCxnSpPr>
          <p:nvPr/>
        </p:nvCxnSpPr>
        <p:spPr>
          <a:xfrm>
            <a:off x="4163745" y="4189167"/>
            <a:ext cx="5048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636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ull data - Vs30 real">
            <a:extLst>
              <a:ext uri="{FF2B5EF4-FFF2-40B4-BE49-F238E27FC236}">
                <a16:creationId xmlns:a16="http://schemas.microsoft.com/office/drawing/2014/main" id="{2653C455-CD9F-4626-8135-B264790D1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76" y="4046668"/>
            <a:ext cx="2397125" cy="206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Full data - Vs30 fake">
            <a:extLst>
              <a:ext uri="{FF2B5EF4-FFF2-40B4-BE49-F238E27FC236}">
                <a16:creationId xmlns:a16="http://schemas.microsoft.com/office/drawing/2014/main" id="{B39A3A36-3095-4D2D-A6EF-B02D5A874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876" y="4014123"/>
            <a:ext cx="2509837" cy="212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ull data - Z2">
            <a:extLst>
              <a:ext uri="{FF2B5EF4-FFF2-40B4-BE49-F238E27FC236}">
                <a16:creationId xmlns:a16="http://schemas.microsoft.com/office/drawing/2014/main" id="{FD9CFB01-4CC4-4863-9E1D-18F33AB8A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5932" y="4014123"/>
            <a:ext cx="2452688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Full data - Z2">
            <a:extLst>
              <a:ext uri="{FF2B5EF4-FFF2-40B4-BE49-F238E27FC236}">
                <a16:creationId xmlns:a16="http://schemas.microsoft.com/office/drawing/2014/main" id="{44E4D65B-59C3-4984-9930-ADD146BC1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6949" y="4014123"/>
            <a:ext cx="2403475" cy="193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F63432-926F-45C6-A979-9AFF0FF7F7E1}"/>
              </a:ext>
            </a:extLst>
          </p:cNvPr>
          <p:cNvSpPr txBox="1"/>
          <p:nvPr/>
        </p:nvSpPr>
        <p:spPr>
          <a:xfrm>
            <a:off x="2307644" y="1167222"/>
            <a:ext cx="866227" cy="400110"/>
          </a:xfrm>
          <a:prstGeom prst="rect">
            <a:avLst/>
          </a:prstGeom>
          <a:noFill/>
          <a:ln w="25400">
            <a:solidFill>
              <a:srgbClr val="80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Vs30</a:t>
            </a:r>
            <a:endParaRPr lang="en-NZ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F79264-CB32-474E-BAF4-EEE49765D78B}"/>
              </a:ext>
            </a:extLst>
          </p:cNvPr>
          <p:cNvSpPr txBox="1"/>
          <p:nvPr/>
        </p:nvSpPr>
        <p:spPr>
          <a:xfrm>
            <a:off x="1297006" y="1991127"/>
            <a:ext cx="2863933" cy="958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Pearson:     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-0.172997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Spearman:  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-0.168036</a:t>
            </a:r>
            <a:endParaRPr lang="en-NZ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116044-3BFD-4B3F-990F-90EA1284F5BC}"/>
              </a:ext>
            </a:extLst>
          </p:cNvPr>
          <p:cNvSpPr txBox="1"/>
          <p:nvPr/>
        </p:nvSpPr>
        <p:spPr>
          <a:xfrm>
            <a:off x="8934652" y="1185537"/>
            <a:ext cx="866227" cy="400110"/>
          </a:xfrm>
          <a:prstGeom prst="rect">
            <a:avLst/>
          </a:prstGeom>
          <a:noFill/>
          <a:ln w="25400">
            <a:solidFill>
              <a:srgbClr val="80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Z2.5</a:t>
            </a:r>
            <a:endParaRPr lang="en-NZ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D8BB42-8950-45D8-B23C-8B2CB076EE67}"/>
              </a:ext>
            </a:extLst>
          </p:cNvPr>
          <p:cNvSpPr txBox="1"/>
          <p:nvPr/>
        </p:nvSpPr>
        <p:spPr>
          <a:xfrm>
            <a:off x="8018023" y="1991127"/>
            <a:ext cx="2863933" cy="958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Pearson:     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-0.138978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Spearman:  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-0.083244</a:t>
            </a:r>
            <a:endParaRPr lang="en-NZ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041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ull data - Z1">
            <a:extLst>
              <a:ext uri="{FF2B5EF4-FFF2-40B4-BE49-F238E27FC236}">
                <a16:creationId xmlns:a16="http://schemas.microsoft.com/office/drawing/2014/main" id="{E3F60ADA-CA24-4A3F-86FB-E978B455F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599" y="4123757"/>
            <a:ext cx="224790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Full data - Z1">
            <a:extLst>
              <a:ext uri="{FF2B5EF4-FFF2-40B4-BE49-F238E27FC236}">
                <a16:creationId xmlns:a16="http://schemas.microsoft.com/office/drawing/2014/main" id="{CBE42BE0-C60A-4E08-87D4-D100545D6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273" y="4123757"/>
            <a:ext cx="2490788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ull data - PGA real">
            <a:extLst>
              <a:ext uri="{FF2B5EF4-FFF2-40B4-BE49-F238E27FC236}">
                <a16:creationId xmlns:a16="http://schemas.microsoft.com/office/drawing/2014/main" id="{E8A9827D-3470-4FE9-82A9-674144672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688" y="4123757"/>
            <a:ext cx="254970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Full data - PGA fake">
            <a:extLst>
              <a:ext uri="{FF2B5EF4-FFF2-40B4-BE49-F238E27FC236}">
                <a16:creationId xmlns:a16="http://schemas.microsoft.com/office/drawing/2014/main" id="{4254FFA7-F704-4574-BC3F-FECA83A29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4334" y="4123757"/>
            <a:ext cx="2473805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6BF289-A96A-4D34-AC7A-FEA10703F43D}"/>
              </a:ext>
            </a:extLst>
          </p:cNvPr>
          <p:cNvSpPr txBox="1"/>
          <p:nvPr/>
        </p:nvSpPr>
        <p:spPr>
          <a:xfrm>
            <a:off x="2393902" y="1096731"/>
            <a:ext cx="866227" cy="400110"/>
          </a:xfrm>
          <a:prstGeom prst="rect">
            <a:avLst/>
          </a:prstGeom>
          <a:noFill/>
          <a:ln w="25400">
            <a:solidFill>
              <a:srgbClr val="80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Z1.0</a:t>
            </a:r>
            <a:endParaRPr lang="en-NZ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E61F81-4331-433D-B25E-0F4504E9C46B}"/>
              </a:ext>
            </a:extLst>
          </p:cNvPr>
          <p:cNvSpPr txBox="1"/>
          <p:nvPr/>
        </p:nvSpPr>
        <p:spPr>
          <a:xfrm>
            <a:off x="9112264" y="1096731"/>
            <a:ext cx="866227" cy="400110"/>
          </a:xfrm>
          <a:prstGeom prst="rect">
            <a:avLst/>
          </a:prstGeom>
          <a:noFill/>
          <a:ln w="25400">
            <a:solidFill>
              <a:srgbClr val="80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PGA</a:t>
            </a:r>
            <a:endParaRPr lang="en-NZ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46D76D-3424-4A14-8DA4-7E1285706E01}"/>
              </a:ext>
            </a:extLst>
          </p:cNvPr>
          <p:cNvSpPr txBox="1"/>
          <p:nvPr/>
        </p:nvSpPr>
        <p:spPr>
          <a:xfrm>
            <a:off x="8195633" y="1915492"/>
            <a:ext cx="2843669" cy="958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Pearson:     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0.044864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Spearman:  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0.051138</a:t>
            </a:r>
            <a:endParaRPr lang="en-NZ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F3F11F-12E7-4D8F-BB09-66A8C54B6452}"/>
              </a:ext>
            </a:extLst>
          </p:cNvPr>
          <p:cNvSpPr txBox="1"/>
          <p:nvPr/>
        </p:nvSpPr>
        <p:spPr>
          <a:xfrm>
            <a:off x="1477273" y="1939752"/>
            <a:ext cx="2843669" cy="958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Pearson:     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-0.151406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Spearman:  </a:t>
            </a:r>
            <a:r>
              <a:rPr lang="en-US" sz="2000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-0.171003</a:t>
            </a:r>
            <a:endParaRPr lang="en-NZ" sz="2000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042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2251</TotalTime>
  <Words>860</Words>
  <Application>Microsoft Office PowerPoint</Application>
  <PresentationFormat>Widescreen</PresentationFormat>
  <Paragraphs>271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SimSun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3. METHODOLOGY – CTGAN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Canterbury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OF GENERATIVE MODELS  TO ENHANCE THE PERFORMANCE OF COMPLEX PROBABILISTIC SEISMIC MODELS</dc:title>
  <dc:creator>Martin Nguyen</dc:creator>
  <cp:lastModifiedBy>Steve Gourdie</cp:lastModifiedBy>
  <cp:revision>142</cp:revision>
  <dcterms:created xsi:type="dcterms:W3CDTF">2021-01-27T09:24:41Z</dcterms:created>
  <dcterms:modified xsi:type="dcterms:W3CDTF">2021-03-03T08:01:00Z</dcterms:modified>
</cp:coreProperties>
</file>