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801600" cy="9601200" type="A3"/>
  <p:notesSz cx="9926638" cy="14355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0000"/>
    <a:srgbClr val="FF2F2F"/>
    <a:srgbClr val="800000"/>
    <a:srgbClr val="FFAFAF"/>
    <a:srgbClr val="FF7D7D"/>
    <a:srgbClr val="FF8F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25" autoAdjust="0"/>
    <p:restoredTop sz="94660"/>
  </p:normalViewPr>
  <p:slideViewPr>
    <p:cSldViewPr snapToGrid="0">
      <p:cViewPr>
        <p:scale>
          <a:sx n="100" d="100"/>
          <a:sy n="100" d="100"/>
        </p:scale>
        <p:origin x="792" y="-9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5" name="Footer Placeholder 4"/>
          <p:cNvSpPr>
            <a:spLocks noGrp="1"/>
          </p:cNvSpPr>
          <p:nvPr>
            <p:ph type="ftr" sz="quarter" idx="11"/>
          </p:nvPr>
        </p:nvSpPr>
        <p:spPr/>
        <p:txBody>
          <a:bodyPr/>
          <a:lstStyle/>
          <a:p>
            <a:endParaRPr lang="en-NZ" dirty="0"/>
          </a:p>
        </p:txBody>
      </p:sp>
      <p:sp>
        <p:nvSpPr>
          <p:cNvPr id="6" name="Slide Number Placeholder 5"/>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1980813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5" name="Footer Placeholder 4"/>
          <p:cNvSpPr>
            <a:spLocks noGrp="1"/>
          </p:cNvSpPr>
          <p:nvPr>
            <p:ph type="ftr" sz="quarter" idx="11"/>
          </p:nvPr>
        </p:nvSpPr>
        <p:spPr/>
        <p:txBody>
          <a:bodyPr/>
          <a:lstStyle/>
          <a:p>
            <a:endParaRPr lang="en-NZ" dirty="0"/>
          </a:p>
        </p:txBody>
      </p:sp>
      <p:sp>
        <p:nvSpPr>
          <p:cNvPr id="6" name="Slide Number Placeholder 5"/>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127854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5" name="Footer Placeholder 4"/>
          <p:cNvSpPr>
            <a:spLocks noGrp="1"/>
          </p:cNvSpPr>
          <p:nvPr>
            <p:ph type="ftr" sz="quarter" idx="11"/>
          </p:nvPr>
        </p:nvSpPr>
        <p:spPr/>
        <p:txBody>
          <a:bodyPr/>
          <a:lstStyle/>
          <a:p>
            <a:endParaRPr lang="en-NZ" dirty="0"/>
          </a:p>
        </p:txBody>
      </p:sp>
      <p:sp>
        <p:nvSpPr>
          <p:cNvPr id="6" name="Slide Number Placeholder 5"/>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415151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6" name="Footer Placeholder 5"/>
          <p:cNvSpPr>
            <a:spLocks noGrp="1"/>
          </p:cNvSpPr>
          <p:nvPr>
            <p:ph type="ftr" sz="quarter" idx="11"/>
          </p:nvPr>
        </p:nvSpPr>
        <p:spPr/>
        <p:txBody>
          <a:bodyPr/>
          <a:lstStyle/>
          <a:p>
            <a:endParaRPr lang="en-NZ" dirty="0"/>
          </a:p>
        </p:txBody>
      </p:sp>
      <p:sp>
        <p:nvSpPr>
          <p:cNvPr id="7" name="Slide Number Placeholder 6"/>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351557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8" name="Footer Placeholder 7"/>
          <p:cNvSpPr>
            <a:spLocks noGrp="1"/>
          </p:cNvSpPr>
          <p:nvPr>
            <p:ph type="ftr" sz="quarter" idx="11"/>
          </p:nvPr>
        </p:nvSpPr>
        <p:spPr/>
        <p:txBody>
          <a:bodyPr/>
          <a:lstStyle/>
          <a:p>
            <a:endParaRPr lang="en-NZ" dirty="0"/>
          </a:p>
        </p:txBody>
      </p:sp>
      <p:sp>
        <p:nvSpPr>
          <p:cNvPr id="9" name="Slide Number Placeholder 8"/>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39858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4" name="Footer Placeholder 3"/>
          <p:cNvSpPr>
            <a:spLocks noGrp="1"/>
          </p:cNvSpPr>
          <p:nvPr>
            <p:ph type="ftr" sz="quarter" idx="11"/>
          </p:nvPr>
        </p:nvSpPr>
        <p:spPr/>
        <p:txBody>
          <a:bodyPr/>
          <a:lstStyle/>
          <a:p>
            <a:endParaRPr lang="en-NZ" dirty="0"/>
          </a:p>
        </p:txBody>
      </p:sp>
      <p:sp>
        <p:nvSpPr>
          <p:cNvPr id="5" name="Slide Number Placeholder 4"/>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3339128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3" name="Footer Placeholder 2"/>
          <p:cNvSpPr>
            <a:spLocks noGrp="1"/>
          </p:cNvSpPr>
          <p:nvPr>
            <p:ph type="ftr" sz="quarter" idx="11"/>
          </p:nvPr>
        </p:nvSpPr>
        <p:spPr/>
        <p:txBody>
          <a:bodyPr/>
          <a:lstStyle/>
          <a:p>
            <a:endParaRPr lang="en-NZ" dirty="0"/>
          </a:p>
        </p:txBody>
      </p:sp>
      <p:sp>
        <p:nvSpPr>
          <p:cNvPr id="4" name="Slide Number Placeholder 3"/>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335687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Edit Master text styles</a:t>
            </a:r>
          </a:p>
        </p:txBody>
      </p:sp>
      <p:sp>
        <p:nvSpPr>
          <p:cNvPr id="5" name="Date Placeholder 4"/>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6" name="Footer Placeholder 5"/>
          <p:cNvSpPr>
            <a:spLocks noGrp="1"/>
          </p:cNvSpPr>
          <p:nvPr>
            <p:ph type="ftr" sz="quarter" idx="11"/>
          </p:nvPr>
        </p:nvSpPr>
        <p:spPr/>
        <p:txBody>
          <a:bodyPr/>
          <a:lstStyle/>
          <a:p>
            <a:endParaRPr lang="en-NZ" dirty="0"/>
          </a:p>
        </p:txBody>
      </p:sp>
      <p:sp>
        <p:nvSpPr>
          <p:cNvPr id="7" name="Slide Number Placeholder 6"/>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3790201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Edit Master text styles</a:t>
            </a:r>
          </a:p>
        </p:txBody>
      </p:sp>
      <p:sp>
        <p:nvSpPr>
          <p:cNvPr id="5" name="Date Placeholder 4"/>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6" name="Footer Placeholder 5"/>
          <p:cNvSpPr>
            <a:spLocks noGrp="1"/>
          </p:cNvSpPr>
          <p:nvPr>
            <p:ph type="ftr" sz="quarter" idx="11"/>
          </p:nvPr>
        </p:nvSpPr>
        <p:spPr/>
        <p:txBody>
          <a:bodyPr/>
          <a:lstStyle/>
          <a:p>
            <a:endParaRPr lang="en-NZ" dirty="0"/>
          </a:p>
        </p:txBody>
      </p:sp>
      <p:sp>
        <p:nvSpPr>
          <p:cNvPr id="7" name="Slide Number Placeholder 6"/>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1107882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5" name="Footer Placeholder 4"/>
          <p:cNvSpPr>
            <a:spLocks noGrp="1"/>
          </p:cNvSpPr>
          <p:nvPr>
            <p:ph type="ftr" sz="quarter" idx="11"/>
          </p:nvPr>
        </p:nvSpPr>
        <p:spPr/>
        <p:txBody>
          <a:bodyPr/>
          <a:lstStyle/>
          <a:p>
            <a:endParaRPr lang="en-NZ" dirty="0"/>
          </a:p>
        </p:txBody>
      </p:sp>
      <p:sp>
        <p:nvSpPr>
          <p:cNvPr id="6" name="Slide Number Placeholder 5"/>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1031464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6DCF3-8053-4E91-9113-B8490DECB600}" type="datetimeFigureOut">
              <a:rPr lang="en-NZ" smtClean="0"/>
              <a:t>5/02/2021</a:t>
            </a:fld>
            <a:endParaRPr lang="en-NZ" dirty="0"/>
          </a:p>
        </p:txBody>
      </p:sp>
      <p:sp>
        <p:nvSpPr>
          <p:cNvPr id="5" name="Footer Placeholder 4"/>
          <p:cNvSpPr>
            <a:spLocks noGrp="1"/>
          </p:cNvSpPr>
          <p:nvPr>
            <p:ph type="ftr" sz="quarter" idx="11"/>
          </p:nvPr>
        </p:nvSpPr>
        <p:spPr/>
        <p:txBody>
          <a:bodyPr/>
          <a:lstStyle/>
          <a:p>
            <a:endParaRPr lang="en-NZ" dirty="0"/>
          </a:p>
        </p:txBody>
      </p:sp>
      <p:sp>
        <p:nvSpPr>
          <p:cNvPr id="6" name="Slide Number Placeholder 5"/>
          <p:cNvSpPr>
            <a:spLocks noGrp="1"/>
          </p:cNvSpPr>
          <p:nvPr>
            <p:ph type="sldNum" sz="quarter" idx="12"/>
          </p:nvPr>
        </p:nvSpPr>
        <p:spPr/>
        <p:txBody>
          <a:bodyPr/>
          <a:lstStyle/>
          <a:p>
            <a:fld id="{6B04713E-05D9-41F7-8CE0-24B575ADD7D2}" type="slidenum">
              <a:rPr lang="en-NZ" smtClean="0"/>
              <a:t>‹#›</a:t>
            </a:fld>
            <a:endParaRPr lang="en-NZ" dirty="0"/>
          </a:p>
        </p:txBody>
      </p:sp>
    </p:spTree>
    <p:extLst>
      <p:ext uri="{BB962C8B-B14F-4D97-AF65-F5344CB8AC3E}">
        <p14:creationId xmlns:p14="http://schemas.microsoft.com/office/powerpoint/2010/main" val="194655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ED76DCF3-8053-4E91-9113-B8490DECB600}" type="datetimeFigureOut">
              <a:rPr lang="en-NZ" smtClean="0"/>
              <a:t>5/02/2021</a:t>
            </a:fld>
            <a:endParaRPr lang="en-NZ" dirty="0"/>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en-NZ" dirty="0"/>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6B04713E-05D9-41F7-8CE0-24B575ADD7D2}" type="slidenum">
              <a:rPr lang="en-NZ" smtClean="0"/>
              <a:t>‹#›</a:t>
            </a:fld>
            <a:endParaRPr lang="en-NZ" dirty="0"/>
          </a:p>
        </p:txBody>
      </p:sp>
    </p:spTree>
    <p:extLst>
      <p:ext uri="{BB962C8B-B14F-4D97-AF65-F5344CB8AC3E}">
        <p14:creationId xmlns:p14="http://schemas.microsoft.com/office/powerpoint/2010/main" val="40052157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5"/>
            <a:ext cx="12801600" cy="1026966"/>
          </a:xfrm>
          <a:prstGeom prst="rect">
            <a:avLst/>
          </a:prstGeom>
          <a:solidFill>
            <a:srgbClr val="FF8F8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9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0103" y="129510"/>
            <a:ext cx="807202" cy="754643"/>
          </a:xfrm>
          <a:prstGeom prst="rect">
            <a:avLst/>
          </a:prstGeom>
        </p:spPr>
      </p:pic>
      <p:sp>
        <p:nvSpPr>
          <p:cNvPr id="7" name="Title 1"/>
          <p:cNvSpPr txBox="1">
            <a:spLocks/>
          </p:cNvSpPr>
          <p:nvPr/>
        </p:nvSpPr>
        <p:spPr>
          <a:xfrm>
            <a:off x="70417" y="8689"/>
            <a:ext cx="10843310" cy="4454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en-US" sz="1900" b="1" dirty="0">
                <a:solidFill>
                  <a:srgbClr val="C00000"/>
                </a:solidFill>
                <a:latin typeface="+mn-lt"/>
                <a:cs typeface="Arial" panose="020B0604020202020204" pitchFamily="34" charset="0"/>
              </a:rPr>
              <a:t>Applications of Generative Models to enhance the performance of complex Probabilistic Seismic Models</a:t>
            </a:r>
          </a:p>
        </p:txBody>
      </p:sp>
      <p:sp>
        <p:nvSpPr>
          <p:cNvPr id="8" name="Title 1"/>
          <p:cNvSpPr txBox="1">
            <a:spLocks/>
          </p:cNvSpPr>
          <p:nvPr/>
        </p:nvSpPr>
        <p:spPr>
          <a:xfrm>
            <a:off x="1318020" y="374645"/>
            <a:ext cx="2060258" cy="50642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20000"/>
              </a:lnSpc>
              <a:tabLst>
                <a:tab pos="714375" algn="l"/>
              </a:tabLst>
            </a:pPr>
            <a:r>
              <a:rPr lang="en-US" sz="1200" i="1" dirty="0">
                <a:solidFill>
                  <a:srgbClr val="C00000"/>
                </a:solidFill>
                <a:latin typeface="+mn-lt"/>
                <a:cs typeface="Arial" panose="020B0604020202020204" pitchFamily="34" charset="0"/>
              </a:rPr>
              <a:t>Students: 	</a:t>
            </a:r>
            <a:r>
              <a:rPr lang="en-US" sz="1200" dirty="0">
                <a:solidFill>
                  <a:srgbClr val="C00000"/>
                </a:solidFill>
                <a:latin typeface="+mn-lt"/>
                <a:cs typeface="Arial" panose="020B0604020202020204" pitchFamily="34" charset="0"/>
              </a:rPr>
              <a:t>Martin Nguyen</a:t>
            </a:r>
          </a:p>
          <a:p>
            <a:pPr algn="l">
              <a:lnSpc>
                <a:spcPct val="120000"/>
              </a:lnSpc>
              <a:tabLst>
                <a:tab pos="714375" algn="l"/>
              </a:tabLst>
            </a:pPr>
            <a:r>
              <a:rPr lang="en-US" sz="1200" dirty="0">
                <a:solidFill>
                  <a:srgbClr val="C00000"/>
                </a:solidFill>
                <a:latin typeface="+mn-lt"/>
                <a:cs typeface="Arial" panose="020B0604020202020204" pitchFamily="34" charset="0"/>
              </a:rPr>
              <a:t>	Jian Di</a:t>
            </a:r>
          </a:p>
        </p:txBody>
      </p:sp>
      <p:sp>
        <p:nvSpPr>
          <p:cNvPr id="9" name="Title 1"/>
          <p:cNvSpPr txBox="1">
            <a:spLocks/>
          </p:cNvSpPr>
          <p:nvPr/>
        </p:nvSpPr>
        <p:spPr>
          <a:xfrm>
            <a:off x="3885400" y="384170"/>
            <a:ext cx="1935150" cy="28199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20000"/>
              </a:lnSpc>
              <a:tabLst>
                <a:tab pos="715963" algn="l"/>
              </a:tabLst>
            </a:pPr>
            <a:r>
              <a:rPr lang="en-US" sz="1200" i="1" dirty="0">
                <a:solidFill>
                  <a:srgbClr val="C00000"/>
                </a:solidFill>
                <a:latin typeface="+mn-lt"/>
                <a:cs typeface="Arial" panose="020B0604020202020204" pitchFamily="34" charset="0"/>
              </a:rPr>
              <a:t>Supervisor: 	</a:t>
            </a:r>
            <a:r>
              <a:rPr lang="en-US" sz="1200" dirty="0">
                <a:solidFill>
                  <a:srgbClr val="C00000"/>
                </a:solidFill>
                <a:latin typeface="+mn-lt"/>
                <a:cs typeface="Arial" panose="020B0604020202020204" pitchFamily="34" charset="0"/>
              </a:rPr>
              <a:t>Phil Davies</a:t>
            </a:r>
          </a:p>
        </p:txBody>
      </p:sp>
      <p:sp>
        <p:nvSpPr>
          <p:cNvPr id="10" name="Title 1"/>
          <p:cNvSpPr txBox="1">
            <a:spLocks/>
          </p:cNvSpPr>
          <p:nvPr/>
        </p:nvSpPr>
        <p:spPr>
          <a:xfrm>
            <a:off x="6442317" y="350034"/>
            <a:ext cx="3310414" cy="5353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20000"/>
              </a:lnSpc>
              <a:tabLst>
                <a:tab pos="1524000" algn="l"/>
              </a:tabLst>
            </a:pPr>
            <a:r>
              <a:rPr lang="en-US" sz="1200" i="1" dirty="0">
                <a:solidFill>
                  <a:srgbClr val="C00000"/>
                </a:solidFill>
                <a:latin typeface="+mn-lt"/>
                <a:cs typeface="Arial" panose="020B0604020202020204" pitchFamily="34" charset="0"/>
              </a:rPr>
              <a:t>GNS Science mentors: 	</a:t>
            </a:r>
            <a:r>
              <a:rPr lang="en-US" sz="1200" dirty="0">
                <a:solidFill>
                  <a:srgbClr val="C00000"/>
                </a:solidFill>
                <a:latin typeface="+mn-lt"/>
                <a:cs typeface="Arial" panose="020B0604020202020204" pitchFamily="34" charset="0"/>
              </a:rPr>
              <a:t>Dr. Robert Buxton</a:t>
            </a:r>
          </a:p>
          <a:p>
            <a:pPr algn="l">
              <a:lnSpc>
                <a:spcPct val="120000"/>
              </a:lnSpc>
              <a:tabLst>
                <a:tab pos="1524000" algn="l"/>
              </a:tabLst>
            </a:pPr>
            <a:r>
              <a:rPr lang="en-US" sz="1200" i="1" dirty="0">
                <a:solidFill>
                  <a:srgbClr val="C00000"/>
                </a:solidFill>
                <a:latin typeface="+mn-lt"/>
                <a:cs typeface="Arial" panose="020B0604020202020204" pitchFamily="34" charset="0"/>
              </a:rPr>
              <a:t>	</a:t>
            </a:r>
            <a:r>
              <a:rPr lang="en-US" sz="1200" dirty="0">
                <a:solidFill>
                  <a:srgbClr val="C00000"/>
                </a:solidFill>
                <a:latin typeface="+mn-lt"/>
                <a:cs typeface="Arial" panose="020B0604020202020204" pitchFamily="34" charset="0"/>
              </a:rPr>
              <a:t>Dr. Alexandre Dunant</a:t>
            </a:r>
          </a:p>
        </p:txBody>
      </p:sp>
      <p:cxnSp>
        <p:nvCxnSpPr>
          <p:cNvPr id="12" name="Straight Connector 11"/>
          <p:cNvCxnSpPr/>
          <p:nvPr/>
        </p:nvCxnSpPr>
        <p:spPr>
          <a:xfrm>
            <a:off x="0" y="1034288"/>
            <a:ext cx="12801600" cy="0"/>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23874" y="1320770"/>
            <a:ext cx="3643898"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Project Overview</a:t>
            </a:r>
            <a:endParaRPr lang="en-NZ" sz="1300" b="1" dirty="0">
              <a:solidFill>
                <a:srgbClr val="C00000"/>
              </a:solidFill>
            </a:endParaRPr>
          </a:p>
        </p:txBody>
      </p:sp>
      <p:sp>
        <p:nvSpPr>
          <p:cNvPr id="25" name="TextBox 24"/>
          <p:cNvSpPr txBox="1"/>
          <p:nvPr/>
        </p:nvSpPr>
        <p:spPr>
          <a:xfrm>
            <a:off x="123874" y="5199270"/>
            <a:ext cx="3671861"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Objectives</a:t>
            </a:r>
            <a:endParaRPr lang="en-NZ" sz="1300" b="1" dirty="0">
              <a:solidFill>
                <a:srgbClr val="C00000"/>
              </a:solidFill>
            </a:endParaRPr>
          </a:p>
        </p:txBody>
      </p:sp>
      <p:sp>
        <p:nvSpPr>
          <p:cNvPr id="26" name="TextBox 25"/>
          <p:cNvSpPr txBox="1"/>
          <p:nvPr/>
        </p:nvSpPr>
        <p:spPr>
          <a:xfrm>
            <a:off x="4066188" y="3317216"/>
            <a:ext cx="3291117"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CTGAN</a:t>
            </a:r>
            <a:endParaRPr lang="en-NZ" sz="1300" b="1" dirty="0">
              <a:solidFill>
                <a:srgbClr val="C00000"/>
              </a:solidFill>
            </a:endParaRPr>
          </a:p>
        </p:txBody>
      </p:sp>
      <p:sp>
        <p:nvSpPr>
          <p:cNvPr id="28" name="TextBox 27"/>
          <p:cNvSpPr txBox="1"/>
          <p:nvPr/>
        </p:nvSpPr>
        <p:spPr>
          <a:xfrm>
            <a:off x="4066188" y="7127446"/>
            <a:ext cx="3291118"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Evaluation system</a:t>
            </a:r>
            <a:endParaRPr lang="en-NZ" sz="1300" b="1" dirty="0">
              <a:solidFill>
                <a:srgbClr val="C00000"/>
              </a:solidFill>
            </a:endParaRPr>
          </a:p>
        </p:txBody>
      </p:sp>
      <p:sp>
        <p:nvSpPr>
          <p:cNvPr id="29" name="TextBox 28"/>
          <p:cNvSpPr txBox="1"/>
          <p:nvPr/>
        </p:nvSpPr>
        <p:spPr>
          <a:xfrm>
            <a:off x="7668898" y="1318156"/>
            <a:ext cx="4958199"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Results</a:t>
            </a:r>
            <a:endParaRPr lang="en-NZ" sz="1300" b="1" dirty="0">
              <a:solidFill>
                <a:srgbClr val="C00000"/>
              </a:solidFill>
            </a:endParaRPr>
          </a:p>
        </p:txBody>
      </p:sp>
      <p:sp>
        <p:nvSpPr>
          <p:cNvPr id="31" name="TextBox 30"/>
          <p:cNvSpPr txBox="1"/>
          <p:nvPr/>
        </p:nvSpPr>
        <p:spPr>
          <a:xfrm>
            <a:off x="7664926" y="6410369"/>
            <a:ext cx="1816008"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Problem</a:t>
            </a:r>
            <a:endParaRPr lang="en-NZ" sz="1300" b="1" dirty="0">
              <a:solidFill>
                <a:srgbClr val="C00000"/>
              </a:solidFill>
            </a:endParaRPr>
          </a:p>
        </p:txBody>
      </p:sp>
      <p:sp>
        <p:nvSpPr>
          <p:cNvPr id="6" name="TextBox 5">
            <a:extLst>
              <a:ext uri="{FF2B5EF4-FFF2-40B4-BE49-F238E27FC236}">
                <a16:creationId xmlns:a16="http://schemas.microsoft.com/office/drawing/2014/main" id="{D8A1BE43-9A54-C240-B956-34891907B4A1}"/>
              </a:ext>
            </a:extLst>
          </p:cNvPr>
          <p:cNvSpPr txBox="1"/>
          <p:nvPr/>
        </p:nvSpPr>
        <p:spPr>
          <a:xfrm>
            <a:off x="2610679" y="3277014"/>
            <a:ext cx="184731" cy="418128"/>
          </a:xfrm>
          <a:prstGeom prst="rect">
            <a:avLst/>
          </a:prstGeom>
          <a:noFill/>
        </p:spPr>
        <p:txBody>
          <a:bodyPr wrap="none" rtlCol="0">
            <a:spAutoFit/>
          </a:bodyPr>
          <a:lstStyle/>
          <a:p>
            <a:endParaRPr lang="en-CN" dirty="0"/>
          </a:p>
        </p:txBody>
      </p:sp>
      <p:sp>
        <p:nvSpPr>
          <p:cNvPr id="17" name="TextBox 16">
            <a:extLst>
              <a:ext uri="{FF2B5EF4-FFF2-40B4-BE49-F238E27FC236}">
                <a16:creationId xmlns:a16="http://schemas.microsoft.com/office/drawing/2014/main" id="{7A1D7286-41A3-EC4E-8B8F-B6B4590EC845}"/>
              </a:ext>
            </a:extLst>
          </p:cNvPr>
          <p:cNvSpPr txBox="1"/>
          <p:nvPr/>
        </p:nvSpPr>
        <p:spPr>
          <a:xfrm>
            <a:off x="5658679" y="3568562"/>
            <a:ext cx="184731" cy="418128"/>
          </a:xfrm>
          <a:prstGeom prst="rect">
            <a:avLst/>
          </a:prstGeom>
          <a:noFill/>
        </p:spPr>
        <p:txBody>
          <a:bodyPr wrap="none" rtlCol="0">
            <a:spAutoFit/>
          </a:bodyPr>
          <a:lstStyle/>
          <a:p>
            <a:endParaRPr lang="en-CN" dirty="0"/>
          </a:p>
        </p:txBody>
      </p:sp>
      <p:sp>
        <p:nvSpPr>
          <p:cNvPr id="18" name="TextBox 17">
            <a:extLst>
              <a:ext uri="{FF2B5EF4-FFF2-40B4-BE49-F238E27FC236}">
                <a16:creationId xmlns:a16="http://schemas.microsoft.com/office/drawing/2014/main" id="{F82629DE-C5CE-134C-B865-EDBEF250F75D}"/>
              </a:ext>
            </a:extLst>
          </p:cNvPr>
          <p:cNvSpPr txBox="1"/>
          <p:nvPr/>
        </p:nvSpPr>
        <p:spPr>
          <a:xfrm>
            <a:off x="9369288" y="3966127"/>
            <a:ext cx="184731" cy="418128"/>
          </a:xfrm>
          <a:prstGeom prst="rect">
            <a:avLst/>
          </a:prstGeom>
          <a:noFill/>
        </p:spPr>
        <p:txBody>
          <a:bodyPr wrap="none" rtlCol="0">
            <a:spAutoFit/>
          </a:bodyPr>
          <a:lstStyle/>
          <a:p>
            <a:endParaRPr lang="en-CN" dirty="0"/>
          </a:p>
        </p:txBody>
      </p:sp>
      <p:sp>
        <p:nvSpPr>
          <p:cNvPr id="22" name="TextBox 21">
            <a:extLst>
              <a:ext uri="{FF2B5EF4-FFF2-40B4-BE49-F238E27FC236}">
                <a16:creationId xmlns:a16="http://schemas.microsoft.com/office/drawing/2014/main" id="{3F2C90E8-BB2E-124F-89C5-D08B74F5B277}"/>
              </a:ext>
            </a:extLst>
          </p:cNvPr>
          <p:cNvSpPr txBox="1"/>
          <p:nvPr/>
        </p:nvSpPr>
        <p:spPr>
          <a:xfrm>
            <a:off x="2239618" y="7663484"/>
            <a:ext cx="184731" cy="418128"/>
          </a:xfrm>
          <a:prstGeom prst="rect">
            <a:avLst/>
          </a:prstGeom>
          <a:noFill/>
        </p:spPr>
        <p:txBody>
          <a:bodyPr wrap="none" rtlCol="0">
            <a:spAutoFit/>
          </a:bodyPr>
          <a:lstStyle/>
          <a:p>
            <a:endParaRPr lang="en-CN" dirty="0"/>
          </a:p>
        </p:txBody>
      </p:sp>
      <p:sp>
        <p:nvSpPr>
          <p:cNvPr id="32" name="TextBox 31">
            <a:extLst>
              <a:ext uri="{FF2B5EF4-FFF2-40B4-BE49-F238E27FC236}">
                <a16:creationId xmlns:a16="http://schemas.microsoft.com/office/drawing/2014/main" id="{4D680739-A300-974D-A47E-B18F85B72C42}"/>
              </a:ext>
            </a:extLst>
          </p:cNvPr>
          <p:cNvSpPr txBox="1"/>
          <p:nvPr/>
        </p:nvSpPr>
        <p:spPr>
          <a:xfrm>
            <a:off x="6149010" y="7769501"/>
            <a:ext cx="184731" cy="418128"/>
          </a:xfrm>
          <a:prstGeom prst="rect">
            <a:avLst/>
          </a:prstGeom>
          <a:noFill/>
        </p:spPr>
        <p:txBody>
          <a:bodyPr wrap="none" rtlCol="0">
            <a:spAutoFit/>
          </a:bodyPr>
          <a:lstStyle/>
          <a:p>
            <a:endParaRPr lang="en-CN" dirty="0"/>
          </a:p>
        </p:txBody>
      </p:sp>
      <p:sp>
        <p:nvSpPr>
          <p:cNvPr id="3" name="TextBox 2">
            <a:extLst>
              <a:ext uri="{FF2B5EF4-FFF2-40B4-BE49-F238E27FC236}">
                <a16:creationId xmlns:a16="http://schemas.microsoft.com/office/drawing/2014/main" id="{19CD28F3-A53A-5E47-8380-5074A19EC8FF}"/>
              </a:ext>
            </a:extLst>
          </p:cNvPr>
          <p:cNvSpPr txBox="1"/>
          <p:nvPr/>
        </p:nvSpPr>
        <p:spPr>
          <a:xfrm>
            <a:off x="115276" y="5586271"/>
            <a:ext cx="3713905" cy="895117"/>
          </a:xfrm>
          <a:prstGeom prst="rect">
            <a:avLst/>
          </a:prstGeom>
          <a:noFill/>
        </p:spPr>
        <p:txBody>
          <a:bodyPr wrap="square" rtlCol="0">
            <a:spAutoFit/>
          </a:bodyPr>
          <a:lstStyle/>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To identify any generative model that could learn the underlying features of the earthquake modelling processes.</a:t>
            </a:r>
            <a:endParaRPr lang="en-CN" sz="800" dirty="0">
              <a:solidFill>
                <a:srgbClr val="4C0000"/>
              </a:solidFill>
              <a:latin typeface="Calibri (Body)"/>
              <a:cs typeface="Arial" panose="020B0604020202020204" pitchFamily="34" charset="0"/>
            </a:endParaRP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To evaluate the similarity between the tabular containing earthquake information and the output generated by the identified model with the tuned hyperparameters.</a:t>
            </a:r>
            <a:endParaRPr lang="en-CN" sz="800" dirty="0">
              <a:solidFill>
                <a:srgbClr val="4C0000"/>
              </a:solidFill>
              <a:latin typeface="Calibri (Body)"/>
              <a:cs typeface="Arial" panose="020B0604020202020204" pitchFamily="34" charset="0"/>
            </a:endParaRPr>
          </a:p>
        </p:txBody>
      </p:sp>
      <p:sp>
        <p:nvSpPr>
          <p:cNvPr id="38" name="Content Placeholder 2"/>
          <p:cNvSpPr txBox="1">
            <a:spLocks/>
          </p:cNvSpPr>
          <p:nvPr/>
        </p:nvSpPr>
        <p:spPr>
          <a:xfrm>
            <a:off x="9752731" y="6825495"/>
            <a:ext cx="2848842" cy="13345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80975" indent="-180975" algn="just">
              <a:lnSpc>
                <a:spcPct val="130000"/>
              </a:lnSpc>
              <a:spcBef>
                <a:spcPts val="0"/>
              </a:spcBef>
              <a:spcAft>
                <a:spcPts val="500"/>
              </a:spcAft>
              <a:buFont typeface="Wingdings" panose="05000000000000000000" pitchFamily="2" charset="2"/>
              <a:buChar char="v"/>
            </a:pPr>
            <a:r>
              <a:rPr lang="en-US" sz="800" b="1" dirty="0">
                <a:solidFill>
                  <a:srgbClr val="4C0000"/>
                </a:solidFill>
                <a:latin typeface="Calibri (Body)"/>
                <a:cs typeface="Arial" panose="020B0604020202020204" pitchFamily="34" charset="0"/>
              </a:rPr>
              <a:t>Objective 1: </a:t>
            </a:r>
            <a:r>
              <a:rPr lang="en-US" sz="800" dirty="0">
                <a:solidFill>
                  <a:srgbClr val="4C0000"/>
                </a:solidFill>
                <a:latin typeface="Calibri (Body)"/>
                <a:cs typeface="Arial" panose="020B0604020202020204" pitchFamily="34" charset="0"/>
              </a:rPr>
              <a:t>The CTGAN model from the ‘ctgan’ package version 0.2.2 can learn the underlying features of the earthquake modelling processes.</a:t>
            </a:r>
          </a:p>
          <a:p>
            <a:pPr marL="180975" indent="-180975" algn="just">
              <a:lnSpc>
                <a:spcPct val="130000"/>
              </a:lnSpc>
              <a:spcBef>
                <a:spcPts val="0"/>
              </a:spcBef>
              <a:spcAft>
                <a:spcPts val="500"/>
              </a:spcAft>
              <a:buFont typeface="Wingdings" panose="05000000000000000000" pitchFamily="2" charset="2"/>
              <a:buChar char="v"/>
            </a:pPr>
            <a:r>
              <a:rPr lang="en-US" sz="800" b="1" dirty="0">
                <a:solidFill>
                  <a:srgbClr val="4C0000"/>
                </a:solidFill>
                <a:latin typeface="Calibri (Body)"/>
                <a:cs typeface="Arial" panose="020B0604020202020204" pitchFamily="34" charset="0"/>
              </a:rPr>
              <a:t>Objective 2: </a:t>
            </a:r>
            <a:r>
              <a:rPr lang="en-US" sz="800" dirty="0">
                <a:solidFill>
                  <a:srgbClr val="4C0000"/>
                </a:solidFill>
                <a:latin typeface="Calibri (Body)"/>
                <a:cs typeface="Arial" panose="020B0604020202020204" pitchFamily="34" charset="0"/>
              </a:rPr>
              <a:t>An evaluation system was developed to evaluate the similarity between two datasets. It included the Logistic Detection, the Cosine Similarity, the Correlation, and the Mapping methods.</a:t>
            </a:r>
            <a:endParaRPr lang="en-NZ" sz="800" dirty="0">
              <a:solidFill>
                <a:srgbClr val="4C0000"/>
              </a:solidFill>
              <a:latin typeface="Calibri (Body)"/>
              <a:cs typeface="Arial" panose="020B0604020202020204" pitchFamily="34" charset="0"/>
            </a:endParaRPr>
          </a:p>
        </p:txBody>
      </p:sp>
      <p:sp>
        <p:nvSpPr>
          <p:cNvPr id="42" name="TextBox 41"/>
          <p:cNvSpPr txBox="1"/>
          <p:nvPr/>
        </p:nvSpPr>
        <p:spPr>
          <a:xfrm>
            <a:off x="123874" y="6592281"/>
            <a:ext cx="3643898"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Data – Table</a:t>
            </a:r>
            <a:endParaRPr lang="en-NZ" sz="1300" b="1" dirty="0">
              <a:solidFill>
                <a:srgbClr val="C00000"/>
              </a:solidFill>
            </a:endParaRPr>
          </a:p>
        </p:txBody>
      </p:sp>
      <p:sp>
        <p:nvSpPr>
          <p:cNvPr id="61" name="TextBox 60"/>
          <p:cNvSpPr txBox="1"/>
          <p:nvPr/>
        </p:nvSpPr>
        <p:spPr>
          <a:xfrm>
            <a:off x="1329045" y="2785142"/>
            <a:ext cx="1064640" cy="215444"/>
          </a:xfrm>
          <a:prstGeom prst="rect">
            <a:avLst/>
          </a:prstGeom>
          <a:noFill/>
        </p:spPr>
        <p:txBody>
          <a:bodyPr wrap="square" rtlCol="0">
            <a:spAutoFit/>
          </a:bodyPr>
          <a:lstStyle/>
          <a:p>
            <a:pPr algn="ctr"/>
            <a:r>
              <a:rPr lang="en-US" sz="800" i="1" dirty="0">
                <a:solidFill>
                  <a:srgbClr val="4C0000"/>
                </a:solidFill>
              </a:rPr>
              <a:t>Figure 1</a:t>
            </a:r>
            <a:r>
              <a:rPr lang="en-US" sz="800" dirty="0">
                <a:solidFill>
                  <a:srgbClr val="4C0000"/>
                </a:solidFill>
              </a:rPr>
              <a:t>. Project idea</a:t>
            </a:r>
            <a:endParaRPr lang="en-NZ" sz="800" dirty="0">
              <a:solidFill>
                <a:srgbClr val="4C0000"/>
              </a:solidFill>
            </a:endParaRPr>
          </a:p>
        </p:txBody>
      </p:sp>
      <p:sp>
        <p:nvSpPr>
          <p:cNvPr id="64" name="TextBox 63"/>
          <p:cNvSpPr txBox="1"/>
          <p:nvPr/>
        </p:nvSpPr>
        <p:spPr>
          <a:xfrm>
            <a:off x="851447" y="7001871"/>
            <a:ext cx="2155775" cy="215444"/>
          </a:xfrm>
          <a:prstGeom prst="rect">
            <a:avLst/>
          </a:prstGeom>
          <a:noFill/>
        </p:spPr>
        <p:txBody>
          <a:bodyPr wrap="square" rtlCol="0">
            <a:spAutoFit/>
          </a:bodyPr>
          <a:lstStyle/>
          <a:p>
            <a:pPr algn="ctr"/>
            <a:r>
              <a:rPr lang="en-US" sz="800" i="1" dirty="0">
                <a:solidFill>
                  <a:srgbClr val="4C0000"/>
                </a:solidFill>
              </a:rPr>
              <a:t>Table 1</a:t>
            </a:r>
            <a:r>
              <a:rPr lang="en-US" sz="800" dirty="0">
                <a:solidFill>
                  <a:srgbClr val="4C0000"/>
                </a:solidFill>
              </a:rPr>
              <a:t>. The full dataset and the sub-dataset</a:t>
            </a:r>
            <a:endParaRPr lang="en-NZ" sz="800" dirty="0">
              <a:solidFill>
                <a:srgbClr val="4C0000"/>
              </a:solidFill>
            </a:endParaRPr>
          </a:p>
        </p:txBody>
      </p:sp>
      <p:sp>
        <p:nvSpPr>
          <p:cNvPr id="65" name="TextBox 64"/>
          <p:cNvSpPr txBox="1"/>
          <p:nvPr/>
        </p:nvSpPr>
        <p:spPr>
          <a:xfrm>
            <a:off x="4775588" y="5286808"/>
            <a:ext cx="1688139" cy="215444"/>
          </a:xfrm>
          <a:prstGeom prst="rect">
            <a:avLst/>
          </a:prstGeom>
          <a:noFill/>
        </p:spPr>
        <p:txBody>
          <a:bodyPr wrap="square" rtlCol="0">
            <a:spAutoFit/>
          </a:bodyPr>
          <a:lstStyle/>
          <a:p>
            <a:pPr algn="ctr"/>
            <a:r>
              <a:rPr lang="en-US" sz="800" i="1" dirty="0">
                <a:solidFill>
                  <a:srgbClr val="4C0000"/>
                </a:solidFill>
              </a:rPr>
              <a:t>Figure 2</a:t>
            </a:r>
            <a:r>
              <a:rPr lang="en-US" sz="800" dirty="0">
                <a:solidFill>
                  <a:srgbClr val="4C0000"/>
                </a:solidFill>
              </a:rPr>
              <a:t>. Training process of CTGAN</a:t>
            </a:r>
            <a:endParaRPr lang="en-NZ" sz="800" dirty="0">
              <a:solidFill>
                <a:srgbClr val="4C0000"/>
              </a:solidFill>
            </a:endParaRPr>
          </a:p>
        </p:txBody>
      </p:sp>
      <p:sp>
        <p:nvSpPr>
          <p:cNvPr id="66" name="Content Placeholder 2"/>
          <p:cNvSpPr txBox="1">
            <a:spLocks/>
          </p:cNvSpPr>
          <p:nvPr/>
        </p:nvSpPr>
        <p:spPr>
          <a:xfrm>
            <a:off x="115277" y="3077686"/>
            <a:ext cx="3697244" cy="200438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Probabilistic Seismic Hazard Analysis (PSHA) was used in Open Quake (OQ) Engine to produce tabular data containing earthquake information.</a:t>
            </a:r>
          </a:p>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The PSHA procedure was extremely complex and computationally time-consuming.</a:t>
            </a:r>
          </a:p>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In the project, the Conditional Tabular Generative Adversarial Network (CTGAN) model was selected and tuned to learn the underlying earthquake features from a small sample (</a:t>
            </a:r>
            <a:r>
              <a:rPr lang="en-NZ" sz="800" dirty="0">
                <a:solidFill>
                  <a:srgbClr val="4C0000"/>
                </a:solidFill>
                <a:latin typeface="Calibri (Body)"/>
                <a:cs typeface="Arial" panose="020B0604020202020204" pitchFamily="34" charset="0"/>
              </a:rPr>
              <a:t>10% ~ 20%</a:t>
            </a:r>
            <a:r>
              <a:rPr lang="en-US" sz="800" dirty="0">
                <a:solidFill>
                  <a:srgbClr val="4C0000"/>
                </a:solidFill>
                <a:latin typeface="Calibri (Body)"/>
                <a:cs typeface="Arial" panose="020B0604020202020204" pitchFamily="34" charset="0"/>
              </a:rPr>
              <a:t>) of the tabular data to generate the synthetic dataset for reducing the complexity and the computation time. The performance of the CTGAN model was assessed by Logistic Detection, Cosine Similarity, Pearson’s and Spearman’s Correlation, and Mapping.</a:t>
            </a:r>
            <a:endParaRPr lang="en-NZ" sz="800" dirty="0">
              <a:solidFill>
                <a:srgbClr val="4C0000"/>
              </a:solidFill>
              <a:latin typeface="Calibri (Body)"/>
              <a:cs typeface="Arial" panose="020B0604020202020204" pitchFamily="34" charset="0"/>
            </a:endParaRPr>
          </a:p>
        </p:txBody>
      </p:sp>
      <p:pic>
        <p:nvPicPr>
          <p:cNvPr id="67" name="Picture 6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0642" y="3711537"/>
            <a:ext cx="3246663" cy="1467176"/>
          </a:xfrm>
          <a:prstGeom prst="rect">
            <a:avLst/>
          </a:prstGeom>
        </p:spPr>
      </p:pic>
      <p:sp>
        <p:nvSpPr>
          <p:cNvPr id="52" name="TextBox 51"/>
          <p:cNvSpPr txBox="1"/>
          <p:nvPr/>
        </p:nvSpPr>
        <p:spPr>
          <a:xfrm>
            <a:off x="5003234" y="9198677"/>
            <a:ext cx="1479619" cy="215444"/>
          </a:xfrm>
          <a:prstGeom prst="rect">
            <a:avLst/>
          </a:prstGeom>
          <a:noFill/>
        </p:spPr>
        <p:txBody>
          <a:bodyPr wrap="square" rtlCol="0">
            <a:spAutoFit/>
          </a:bodyPr>
          <a:lstStyle/>
          <a:p>
            <a:pPr algn="ctr"/>
            <a:r>
              <a:rPr lang="en-US" sz="800" i="1" dirty="0">
                <a:solidFill>
                  <a:srgbClr val="4C0000"/>
                </a:solidFill>
              </a:rPr>
              <a:t>Figure 3</a:t>
            </a:r>
            <a:r>
              <a:rPr lang="en-US" sz="800" dirty="0">
                <a:solidFill>
                  <a:srgbClr val="4C0000"/>
                </a:solidFill>
              </a:rPr>
              <a:t>. Evaluation system</a:t>
            </a:r>
            <a:endParaRPr lang="en-NZ" sz="800" dirty="0">
              <a:solidFill>
                <a:srgbClr val="4C0000"/>
              </a:solidFill>
            </a:endParaRPr>
          </a:p>
        </p:txBody>
      </p:sp>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66188" y="7543800"/>
            <a:ext cx="3286136" cy="1672321"/>
          </a:xfrm>
          <a:prstGeom prst="rect">
            <a:avLst/>
          </a:prstGeom>
        </p:spPr>
      </p:pic>
      <p:pic>
        <p:nvPicPr>
          <p:cNvPr id="50" name="Picture 4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88021" y="3516764"/>
            <a:ext cx="1054195" cy="1026032"/>
          </a:xfrm>
          <a:prstGeom prst="rect">
            <a:avLst/>
          </a:prstGeom>
        </p:spPr>
      </p:pic>
      <p:pic>
        <p:nvPicPr>
          <p:cNvPr id="55" name="Picture 5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00473" y="3508593"/>
            <a:ext cx="1142572" cy="1050998"/>
          </a:xfrm>
          <a:prstGeom prst="rect">
            <a:avLst/>
          </a:prstGeom>
        </p:spPr>
      </p:pic>
      <p:sp>
        <p:nvSpPr>
          <p:cNvPr id="68" name="TextBox 67"/>
          <p:cNvSpPr txBox="1"/>
          <p:nvPr/>
        </p:nvSpPr>
        <p:spPr>
          <a:xfrm>
            <a:off x="7971103" y="4626266"/>
            <a:ext cx="1893778" cy="215444"/>
          </a:xfrm>
          <a:prstGeom prst="rect">
            <a:avLst/>
          </a:prstGeom>
          <a:noFill/>
        </p:spPr>
        <p:txBody>
          <a:bodyPr wrap="square" rtlCol="0">
            <a:spAutoFit/>
          </a:bodyPr>
          <a:lstStyle/>
          <a:p>
            <a:pPr algn="ctr"/>
            <a:r>
              <a:rPr lang="en-US" sz="800" i="1" dirty="0">
                <a:solidFill>
                  <a:srgbClr val="4C0000"/>
                </a:solidFill>
              </a:rPr>
              <a:t>Map 1. </a:t>
            </a:r>
            <a:r>
              <a:rPr lang="en-US" sz="800" dirty="0">
                <a:solidFill>
                  <a:srgbClr val="4C0000"/>
                </a:solidFill>
              </a:rPr>
              <a:t>Vs30 (left – real, right – ctgan) </a:t>
            </a:r>
          </a:p>
        </p:txBody>
      </p:sp>
      <p:pic>
        <p:nvPicPr>
          <p:cNvPr id="58" name="Picture 5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60684" y="3508592"/>
            <a:ext cx="1059792" cy="1034203"/>
          </a:xfrm>
          <a:prstGeom prst="rect">
            <a:avLst/>
          </a:prstGeom>
        </p:spPr>
      </p:pic>
      <p:pic>
        <p:nvPicPr>
          <p:cNvPr id="62" name="Picture 6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64824" y="3508592"/>
            <a:ext cx="1062274" cy="1013985"/>
          </a:xfrm>
          <a:prstGeom prst="rect">
            <a:avLst/>
          </a:prstGeom>
        </p:spPr>
      </p:pic>
      <p:sp>
        <p:nvSpPr>
          <p:cNvPr id="69" name="TextBox 68"/>
          <p:cNvSpPr txBox="1"/>
          <p:nvPr/>
        </p:nvSpPr>
        <p:spPr>
          <a:xfrm>
            <a:off x="10578536" y="4626266"/>
            <a:ext cx="1841754" cy="215444"/>
          </a:xfrm>
          <a:prstGeom prst="rect">
            <a:avLst/>
          </a:prstGeom>
          <a:noFill/>
        </p:spPr>
        <p:txBody>
          <a:bodyPr wrap="square" rtlCol="0">
            <a:spAutoFit/>
          </a:bodyPr>
          <a:lstStyle/>
          <a:p>
            <a:pPr algn="ctr"/>
            <a:r>
              <a:rPr lang="en-US" sz="800" i="1" dirty="0">
                <a:solidFill>
                  <a:srgbClr val="4C0000"/>
                </a:solidFill>
              </a:rPr>
              <a:t>Map 2. </a:t>
            </a:r>
            <a:r>
              <a:rPr lang="en-US" sz="800" dirty="0">
                <a:solidFill>
                  <a:srgbClr val="4C0000"/>
                </a:solidFill>
              </a:rPr>
              <a:t>Z2.5 (left – real, right – ctgan</a:t>
            </a:r>
            <a:r>
              <a:rPr lang="en-US" sz="800" i="1" dirty="0">
                <a:solidFill>
                  <a:srgbClr val="4C0000"/>
                </a:solidFill>
              </a:rPr>
              <a:t>)</a:t>
            </a:r>
          </a:p>
        </p:txBody>
      </p:sp>
      <p:pic>
        <p:nvPicPr>
          <p:cNvPr id="71" name="Picture 7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00473" y="4956010"/>
            <a:ext cx="1142572" cy="982879"/>
          </a:xfrm>
          <a:prstGeom prst="rect">
            <a:avLst/>
          </a:prstGeom>
        </p:spPr>
      </p:pic>
      <p:pic>
        <p:nvPicPr>
          <p:cNvPr id="72" name="Picture 7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23355" y="4972805"/>
            <a:ext cx="1056436" cy="962214"/>
          </a:xfrm>
          <a:prstGeom prst="rect">
            <a:avLst/>
          </a:prstGeom>
        </p:spPr>
      </p:pic>
      <p:pic>
        <p:nvPicPr>
          <p:cNvPr id="47" name="Picture 4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379735" y="4980113"/>
            <a:ext cx="1059792" cy="953652"/>
          </a:xfrm>
          <a:prstGeom prst="rect">
            <a:avLst/>
          </a:prstGeom>
        </p:spPr>
      </p:pic>
      <p:pic>
        <p:nvPicPr>
          <p:cNvPr id="48" name="Picture 4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564824" y="4966295"/>
            <a:ext cx="1062274" cy="967470"/>
          </a:xfrm>
          <a:prstGeom prst="rect">
            <a:avLst/>
          </a:prstGeom>
        </p:spPr>
      </p:pic>
      <p:sp>
        <p:nvSpPr>
          <p:cNvPr id="77" name="TextBox 76"/>
          <p:cNvSpPr txBox="1"/>
          <p:nvPr/>
        </p:nvSpPr>
        <p:spPr>
          <a:xfrm>
            <a:off x="10579658" y="6037453"/>
            <a:ext cx="1828091" cy="215444"/>
          </a:xfrm>
          <a:prstGeom prst="rect">
            <a:avLst/>
          </a:prstGeom>
          <a:noFill/>
        </p:spPr>
        <p:txBody>
          <a:bodyPr wrap="square" rtlCol="0">
            <a:spAutoFit/>
          </a:bodyPr>
          <a:lstStyle/>
          <a:p>
            <a:pPr algn="ctr"/>
            <a:r>
              <a:rPr lang="en-US" sz="800" i="1" dirty="0">
                <a:solidFill>
                  <a:srgbClr val="4C0000"/>
                </a:solidFill>
              </a:rPr>
              <a:t>Map 4. </a:t>
            </a:r>
            <a:r>
              <a:rPr lang="en-US" sz="800" dirty="0">
                <a:solidFill>
                  <a:srgbClr val="4C0000"/>
                </a:solidFill>
              </a:rPr>
              <a:t>PGA (left – real, right – ctgan) </a:t>
            </a:r>
          </a:p>
        </p:txBody>
      </p:sp>
      <p:sp>
        <p:nvSpPr>
          <p:cNvPr id="85" name="TextBox 84"/>
          <p:cNvSpPr txBox="1"/>
          <p:nvPr/>
        </p:nvSpPr>
        <p:spPr>
          <a:xfrm>
            <a:off x="7971103" y="6041776"/>
            <a:ext cx="1871709" cy="215444"/>
          </a:xfrm>
          <a:prstGeom prst="rect">
            <a:avLst/>
          </a:prstGeom>
          <a:noFill/>
        </p:spPr>
        <p:txBody>
          <a:bodyPr wrap="square" rtlCol="0">
            <a:spAutoFit/>
          </a:bodyPr>
          <a:lstStyle/>
          <a:p>
            <a:pPr algn="ctr"/>
            <a:r>
              <a:rPr lang="en-US" sz="800" i="1" dirty="0">
                <a:solidFill>
                  <a:srgbClr val="4C0000"/>
                </a:solidFill>
              </a:rPr>
              <a:t>Map 3. </a:t>
            </a:r>
            <a:r>
              <a:rPr lang="en-US" sz="800" dirty="0">
                <a:solidFill>
                  <a:srgbClr val="4C0000"/>
                </a:solidFill>
              </a:rPr>
              <a:t>Z1.0 (left – real, right – ctgan) </a:t>
            </a:r>
          </a:p>
        </p:txBody>
      </p:sp>
      <p:sp>
        <p:nvSpPr>
          <p:cNvPr id="89" name="TextBox 88"/>
          <p:cNvSpPr txBox="1"/>
          <p:nvPr/>
        </p:nvSpPr>
        <p:spPr>
          <a:xfrm>
            <a:off x="7914812" y="1673807"/>
            <a:ext cx="1311894" cy="215444"/>
          </a:xfrm>
          <a:prstGeom prst="rect">
            <a:avLst/>
          </a:prstGeom>
          <a:noFill/>
        </p:spPr>
        <p:txBody>
          <a:bodyPr wrap="square" rtlCol="0">
            <a:spAutoFit/>
          </a:bodyPr>
          <a:lstStyle/>
          <a:p>
            <a:pPr algn="ctr"/>
            <a:r>
              <a:rPr lang="en-US" sz="800" i="1" dirty="0">
                <a:solidFill>
                  <a:srgbClr val="4C0000"/>
                </a:solidFill>
              </a:rPr>
              <a:t>Table 3. </a:t>
            </a:r>
            <a:r>
              <a:rPr lang="en-US" sz="800" dirty="0">
                <a:solidFill>
                  <a:srgbClr val="4C0000"/>
                </a:solidFill>
              </a:rPr>
              <a:t>Correlation scores</a:t>
            </a:r>
          </a:p>
        </p:txBody>
      </p:sp>
      <p:sp>
        <p:nvSpPr>
          <p:cNvPr id="90" name="TextBox 89">
            <a:extLst>
              <a:ext uri="{FF2B5EF4-FFF2-40B4-BE49-F238E27FC236}">
                <a16:creationId xmlns:a16="http://schemas.microsoft.com/office/drawing/2014/main" id="{19CD28F3-A53A-5E47-8380-5074A19EC8FF}"/>
              </a:ext>
            </a:extLst>
          </p:cNvPr>
          <p:cNvSpPr txBox="1"/>
          <p:nvPr/>
        </p:nvSpPr>
        <p:spPr>
          <a:xfrm>
            <a:off x="9369287" y="1946966"/>
            <a:ext cx="1875969" cy="1318823"/>
          </a:xfrm>
          <a:prstGeom prst="rect">
            <a:avLst/>
          </a:prstGeom>
          <a:noFill/>
        </p:spPr>
        <p:txBody>
          <a:bodyPr wrap="square" rtlCol="0">
            <a:spAutoFit/>
          </a:bodyPr>
          <a:lstStyle/>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event_id, site_id, Vs30, Z2.5, and Z1.0</a:t>
            </a: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the size and types (positive integer and float) of the dataset </a:t>
            </a: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features such as correlations between variables</a:t>
            </a: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distributions</a:t>
            </a:r>
          </a:p>
        </p:txBody>
      </p:sp>
      <p:sp>
        <p:nvSpPr>
          <p:cNvPr id="91" name="TextBox 90">
            <a:extLst>
              <a:ext uri="{FF2B5EF4-FFF2-40B4-BE49-F238E27FC236}">
                <a16:creationId xmlns:a16="http://schemas.microsoft.com/office/drawing/2014/main" id="{19CD28F3-A53A-5E47-8380-5074A19EC8FF}"/>
              </a:ext>
            </a:extLst>
          </p:cNvPr>
          <p:cNvSpPr txBox="1"/>
          <p:nvPr/>
        </p:nvSpPr>
        <p:spPr>
          <a:xfrm>
            <a:off x="11213682" y="1931330"/>
            <a:ext cx="1413416" cy="1338315"/>
          </a:xfrm>
          <a:prstGeom prst="rect">
            <a:avLst/>
          </a:prstGeom>
          <a:noFill/>
        </p:spPr>
        <p:txBody>
          <a:bodyPr wrap="square" rtlCol="0">
            <a:spAutoFit/>
          </a:bodyPr>
          <a:lstStyle/>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the PGA. Not able to learn the accurate values of  the variable which was almost zero. </a:t>
            </a: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On boundaries of the shape of an area with the longitude and the latitude</a:t>
            </a:r>
          </a:p>
        </p:txBody>
      </p:sp>
      <p:sp>
        <p:nvSpPr>
          <p:cNvPr id="92" name="TextBox 91"/>
          <p:cNvSpPr txBox="1"/>
          <p:nvPr/>
        </p:nvSpPr>
        <p:spPr>
          <a:xfrm>
            <a:off x="9595234" y="1681629"/>
            <a:ext cx="1529790" cy="215444"/>
          </a:xfrm>
          <a:prstGeom prst="rect">
            <a:avLst/>
          </a:prstGeom>
          <a:noFill/>
        </p:spPr>
        <p:txBody>
          <a:bodyPr wrap="square" rtlCol="0">
            <a:spAutoFit/>
          </a:bodyPr>
          <a:lstStyle/>
          <a:p>
            <a:pPr algn="ctr"/>
            <a:r>
              <a:rPr lang="en-US" sz="800" b="1" i="1" dirty="0">
                <a:solidFill>
                  <a:srgbClr val="4C0000"/>
                </a:solidFill>
              </a:rPr>
              <a:t>DID LEARN WELL</a:t>
            </a:r>
            <a:endParaRPr lang="en-NZ" sz="800" b="1" dirty="0">
              <a:solidFill>
                <a:srgbClr val="4C0000"/>
              </a:solidFill>
            </a:endParaRPr>
          </a:p>
        </p:txBody>
      </p:sp>
      <p:sp>
        <p:nvSpPr>
          <p:cNvPr id="93" name="TextBox 92"/>
          <p:cNvSpPr txBox="1"/>
          <p:nvPr/>
        </p:nvSpPr>
        <p:spPr>
          <a:xfrm>
            <a:off x="11444407" y="1674492"/>
            <a:ext cx="1147334" cy="215444"/>
          </a:xfrm>
          <a:prstGeom prst="rect">
            <a:avLst/>
          </a:prstGeom>
          <a:noFill/>
        </p:spPr>
        <p:txBody>
          <a:bodyPr wrap="square" rtlCol="0">
            <a:spAutoFit/>
          </a:bodyPr>
          <a:lstStyle/>
          <a:p>
            <a:pPr algn="ctr"/>
            <a:r>
              <a:rPr lang="en-US" sz="800" b="1" i="1" dirty="0">
                <a:solidFill>
                  <a:srgbClr val="4C0000"/>
                </a:solidFill>
              </a:rPr>
              <a:t>DID NOT LEARN WELL</a:t>
            </a:r>
            <a:endParaRPr lang="en-NZ" sz="800" b="1" dirty="0">
              <a:solidFill>
                <a:srgbClr val="4C0000"/>
              </a:solidFill>
            </a:endParaRPr>
          </a:p>
        </p:txBody>
      </p:sp>
      <p:sp>
        <p:nvSpPr>
          <p:cNvPr id="103" name="TextBox 102"/>
          <p:cNvSpPr txBox="1"/>
          <p:nvPr/>
        </p:nvSpPr>
        <p:spPr>
          <a:xfrm>
            <a:off x="7809514" y="7906481"/>
            <a:ext cx="1479619" cy="215444"/>
          </a:xfrm>
          <a:prstGeom prst="rect">
            <a:avLst/>
          </a:prstGeom>
          <a:noFill/>
        </p:spPr>
        <p:txBody>
          <a:bodyPr wrap="square" rtlCol="0">
            <a:spAutoFit/>
          </a:bodyPr>
          <a:lstStyle/>
          <a:p>
            <a:pPr algn="ctr"/>
            <a:r>
              <a:rPr lang="en-US" sz="800" i="1" dirty="0">
                <a:solidFill>
                  <a:srgbClr val="4C0000"/>
                </a:solidFill>
              </a:rPr>
              <a:t>Figure 4</a:t>
            </a:r>
            <a:r>
              <a:rPr lang="en-US" sz="800" dirty="0">
                <a:solidFill>
                  <a:srgbClr val="4C0000"/>
                </a:solidFill>
              </a:rPr>
              <a:t>. Problem explanation</a:t>
            </a:r>
            <a:endParaRPr lang="en-NZ" sz="800" dirty="0">
              <a:solidFill>
                <a:srgbClr val="4C0000"/>
              </a:solidFill>
            </a:endParaRPr>
          </a:p>
        </p:txBody>
      </p:sp>
      <p:sp>
        <p:nvSpPr>
          <p:cNvPr id="105" name="TextBox 104"/>
          <p:cNvSpPr txBox="1"/>
          <p:nvPr/>
        </p:nvSpPr>
        <p:spPr>
          <a:xfrm>
            <a:off x="9752730" y="6410369"/>
            <a:ext cx="2874367"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Discussion</a:t>
            </a:r>
            <a:endParaRPr lang="en-NZ" sz="1300" b="1" dirty="0">
              <a:solidFill>
                <a:srgbClr val="C00000"/>
              </a:solidFill>
            </a:endParaRPr>
          </a:p>
        </p:txBody>
      </p:sp>
      <p:sp>
        <p:nvSpPr>
          <p:cNvPr id="106" name="Content Placeholder 2"/>
          <p:cNvSpPr txBox="1">
            <a:spLocks/>
          </p:cNvSpPr>
          <p:nvPr/>
        </p:nvSpPr>
        <p:spPr>
          <a:xfrm>
            <a:off x="4009493" y="5565878"/>
            <a:ext cx="3374674" cy="14187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The generator used the noise from Gaussian Mixture Model and Condition vector from the real dataset to generate synthetic data rows.</a:t>
            </a:r>
          </a:p>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The discriminator distinguished the real and synthetic data rows by outputting a scalar score.</a:t>
            </a:r>
          </a:p>
          <a:p>
            <a:pPr marL="180975" indent="-180975" algn="just">
              <a:lnSpc>
                <a:spcPct val="130000"/>
              </a:lnSpc>
              <a:spcBef>
                <a:spcPts val="0"/>
              </a:spcBef>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Both the generator and the discriminator were updated until the discriminator could not distinguish the difference of the score anymore.</a:t>
            </a:r>
            <a:endParaRPr lang="en-NZ" sz="800" dirty="0">
              <a:solidFill>
                <a:srgbClr val="4C0000"/>
              </a:solidFill>
              <a:latin typeface="Calibri (Body)"/>
              <a:cs typeface="Arial" panose="020B0604020202020204" pitchFamily="34" charset="0"/>
            </a:endParaRPr>
          </a:p>
        </p:txBody>
      </p:sp>
      <p:sp>
        <p:nvSpPr>
          <p:cNvPr id="107" name="TextBox 106"/>
          <p:cNvSpPr txBox="1"/>
          <p:nvPr/>
        </p:nvSpPr>
        <p:spPr>
          <a:xfrm>
            <a:off x="7664926" y="8204939"/>
            <a:ext cx="4962171"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Further research</a:t>
            </a:r>
            <a:endParaRPr lang="en-NZ" sz="1300" b="1" dirty="0">
              <a:solidFill>
                <a:srgbClr val="C00000"/>
              </a:solidFill>
            </a:endParaRPr>
          </a:p>
        </p:txBody>
      </p:sp>
      <p:sp>
        <p:nvSpPr>
          <p:cNvPr id="109" name="Content Placeholder 2"/>
          <p:cNvSpPr txBox="1">
            <a:spLocks/>
          </p:cNvSpPr>
          <p:nvPr/>
        </p:nvSpPr>
        <p:spPr>
          <a:xfrm>
            <a:off x="7664926" y="8566773"/>
            <a:ext cx="4962171" cy="95822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80975" indent="-180975" algn="just">
              <a:lnSpc>
                <a:spcPct val="130000"/>
              </a:lnSpc>
              <a:spcBef>
                <a:spcPts val="0"/>
              </a:spcBef>
              <a:spcAft>
                <a:spcPts val="500"/>
              </a:spcAft>
              <a:buFont typeface="Wingdings" panose="05000000000000000000" pitchFamily="2" charset="2"/>
              <a:buChar char="v"/>
            </a:pPr>
            <a:r>
              <a:rPr lang="en-US" sz="800" b="1" dirty="0">
                <a:solidFill>
                  <a:srgbClr val="4C0000"/>
                </a:solidFill>
                <a:latin typeface="Calibri (Body)"/>
                <a:cs typeface="Arial" panose="020B0604020202020204" pitchFamily="34" charset="0"/>
              </a:rPr>
              <a:t>Extended research: </a:t>
            </a:r>
            <a:r>
              <a:rPr lang="en-US" sz="800" dirty="0">
                <a:solidFill>
                  <a:srgbClr val="4C0000"/>
                </a:solidFill>
                <a:latin typeface="Calibri (Body)"/>
                <a:cs typeface="Arial" panose="020B0604020202020204" pitchFamily="34" charset="0"/>
              </a:rPr>
              <a:t>Trying the improved CTGAN model with other sub-datasets or the whole dataset; Trying other solutions for PGA problem such as updating the ‘ctgan’ package and developing a new model.</a:t>
            </a:r>
          </a:p>
          <a:p>
            <a:pPr marL="180975" indent="-180975" algn="just">
              <a:lnSpc>
                <a:spcPct val="130000"/>
              </a:lnSpc>
              <a:spcBef>
                <a:spcPts val="0"/>
              </a:spcBef>
              <a:spcAft>
                <a:spcPts val="500"/>
              </a:spcAft>
              <a:buFont typeface="Wingdings" panose="05000000000000000000" pitchFamily="2" charset="2"/>
              <a:buChar char="v"/>
            </a:pPr>
            <a:r>
              <a:rPr lang="en-US" sz="800" b="1" dirty="0">
                <a:solidFill>
                  <a:srgbClr val="4C0000"/>
                </a:solidFill>
                <a:latin typeface="Calibri (Body)"/>
                <a:cs typeface="Arial" panose="020B0604020202020204" pitchFamily="34" charset="0"/>
              </a:rPr>
              <a:t>Other research: </a:t>
            </a:r>
            <a:r>
              <a:rPr lang="en-US" sz="800" dirty="0">
                <a:solidFill>
                  <a:srgbClr val="4C0000"/>
                </a:solidFill>
                <a:latin typeface="Calibri (Body)"/>
                <a:cs typeface="Arial" panose="020B0604020202020204" pitchFamily="34" charset="0"/>
              </a:rPr>
              <a:t>Further applications of generative models in other hazard analysis such as flooding and volcanic analyses.</a:t>
            </a:r>
            <a:endParaRPr lang="en-US" sz="800" dirty="0">
              <a:solidFill>
                <a:schemeClr val="accent1"/>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23874" y="1774520"/>
            <a:ext cx="3643898" cy="919761"/>
          </a:xfrm>
          <a:prstGeom prst="rect">
            <a:avLst/>
          </a:prstGeom>
        </p:spPr>
      </p:pic>
      <p:sp>
        <p:nvSpPr>
          <p:cNvPr id="63" name="TextBox 62">
            <a:extLst>
              <a:ext uri="{FF2B5EF4-FFF2-40B4-BE49-F238E27FC236}">
                <a16:creationId xmlns:a16="http://schemas.microsoft.com/office/drawing/2014/main" id="{19CD28F3-A53A-5E47-8380-5074A19EC8FF}"/>
              </a:ext>
            </a:extLst>
          </p:cNvPr>
          <p:cNvSpPr txBox="1"/>
          <p:nvPr/>
        </p:nvSpPr>
        <p:spPr>
          <a:xfrm>
            <a:off x="4033353" y="1714733"/>
            <a:ext cx="3338212" cy="1742528"/>
          </a:xfrm>
          <a:prstGeom prst="rect">
            <a:avLst/>
          </a:prstGeom>
          <a:noFill/>
        </p:spPr>
        <p:txBody>
          <a:bodyPr wrap="square" rtlCol="0">
            <a:spAutoFit/>
          </a:bodyPr>
          <a:lstStyle/>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The dataset contained the earthquake information occurred within the Hawke’s Bay area caused by the Hikurangi Subduction Zone.</a:t>
            </a:r>
          </a:p>
          <a:p>
            <a:pPr marL="171450" indent="-171450" algn="just">
              <a:lnSpc>
                <a:spcPct val="120000"/>
              </a:lnSpc>
              <a:spcAft>
                <a:spcPts val="500"/>
              </a:spcAft>
              <a:buFont typeface="Wingdings" panose="05000000000000000000" pitchFamily="2" charset="2"/>
              <a:buChar char="v"/>
            </a:pPr>
            <a:r>
              <a:rPr lang="en-US" sz="800" dirty="0">
                <a:solidFill>
                  <a:srgbClr val="4C0000"/>
                </a:solidFill>
                <a:latin typeface="Calibri (Body)"/>
                <a:cs typeface="Arial" panose="020B0604020202020204" pitchFamily="34" charset="0"/>
              </a:rPr>
              <a:t>Reduced the full dataset into a sub-dataset by changing the longitude and the </a:t>
            </a:r>
            <a:r>
              <a:rPr lang="en-US" sz="800" dirty="0" smtClean="0">
                <a:solidFill>
                  <a:srgbClr val="4C0000"/>
                </a:solidFill>
                <a:latin typeface="Calibri (Body)"/>
                <a:cs typeface="Arial" panose="020B0604020202020204" pitchFamily="34" charset="0"/>
              </a:rPr>
              <a:t>latitude:</a:t>
            </a:r>
          </a:p>
          <a:p>
            <a:pPr marL="266700" lvl="1" indent="-85725" algn="just">
              <a:lnSpc>
                <a:spcPct val="120000"/>
              </a:lnSpc>
              <a:spcAft>
                <a:spcPts val="500"/>
              </a:spcAft>
              <a:buFont typeface="Wingdings" panose="05000000000000000000" pitchFamily="2" charset="2"/>
              <a:buChar char="§"/>
            </a:pPr>
            <a:r>
              <a:rPr lang="en-US" sz="800" dirty="0">
                <a:solidFill>
                  <a:srgbClr val="4C0000"/>
                </a:solidFill>
                <a:latin typeface="Calibri (Body)"/>
                <a:cs typeface="Arial" panose="020B0604020202020204" pitchFamily="34" charset="0"/>
              </a:rPr>
              <a:t>-39.70 &lt; latitude &lt; -39.40</a:t>
            </a:r>
          </a:p>
          <a:p>
            <a:pPr marL="266700" lvl="1" indent="-85725" algn="just">
              <a:lnSpc>
                <a:spcPct val="120000"/>
              </a:lnSpc>
              <a:spcAft>
                <a:spcPts val="500"/>
              </a:spcAft>
              <a:buFont typeface="Wingdings" panose="05000000000000000000" pitchFamily="2" charset="2"/>
              <a:buChar char="§"/>
            </a:pPr>
            <a:r>
              <a:rPr lang="en-US" sz="800" dirty="0">
                <a:solidFill>
                  <a:srgbClr val="4C0000"/>
                </a:solidFill>
                <a:latin typeface="Calibri (Body)"/>
                <a:cs typeface="Arial" panose="020B0604020202020204" pitchFamily="34" charset="0"/>
              </a:rPr>
              <a:t>176.55 &lt; longitude &lt; </a:t>
            </a:r>
            <a:r>
              <a:rPr lang="en-US" sz="800" dirty="0" smtClean="0">
                <a:solidFill>
                  <a:srgbClr val="4C0000"/>
                </a:solidFill>
                <a:latin typeface="Calibri (Body)"/>
                <a:cs typeface="Arial" panose="020B0604020202020204" pitchFamily="34" charset="0"/>
              </a:rPr>
              <a:t>177.90</a:t>
            </a:r>
          </a:p>
          <a:p>
            <a:pPr marL="171450" indent="-171450" algn="just">
              <a:lnSpc>
                <a:spcPct val="120000"/>
              </a:lnSpc>
              <a:spcAft>
                <a:spcPts val="500"/>
              </a:spcAft>
              <a:buFont typeface="Wingdings" panose="05000000000000000000" pitchFamily="2" charset="2"/>
              <a:buChar char="v"/>
            </a:pPr>
            <a:r>
              <a:rPr lang="en-US" sz="800" dirty="0" smtClean="0">
                <a:solidFill>
                  <a:srgbClr val="4C0000"/>
                </a:solidFill>
                <a:latin typeface="Calibri (Body)"/>
                <a:cs typeface="Arial" panose="020B0604020202020204" pitchFamily="34" charset="0"/>
              </a:rPr>
              <a:t>The </a:t>
            </a:r>
            <a:r>
              <a:rPr lang="en-US" sz="800" dirty="0">
                <a:solidFill>
                  <a:srgbClr val="4C0000"/>
                </a:solidFill>
                <a:latin typeface="Calibri (Body)"/>
                <a:cs typeface="Arial" panose="020B0604020202020204" pitchFamily="34" charset="0"/>
              </a:rPr>
              <a:t>sub-dataset was used to generate a synthetic dataset. The similarity evaluation was processed on these two datasets.</a:t>
            </a:r>
          </a:p>
          <a:p>
            <a:pPr marL="180975" lvl="1" algn="just">
              <a:lnSpc>
                <a:spcPct val="120000"/>
              </a:lnSpc>
              <a:spcAft>
                <a:spcPts val="500"/>
              </a:spcAft>
            </a:pPr>
            <a:endParaRPr lang="en-US" sz="800" b="1" dirty="0" smtClean="0">
              <a:solidFill>
                <a:srgbClr val="4C0000"/>
              </a:solidFill>
              <a:latin typeface="Calibri (Body)"/>
              <a:cs typeface="Arial" panose="020B0604020202020204" pitchFamily="34" charset="0"/>
            </a:endParaRPr>
          </a:p>
        </p:txBody>
      </p:sp>
      <p:sp>
        <p:nvSpPr>
          <p:cNvPr id="75" name="TextBox 74"/>
          <p:cNvSpPr txBox="1"/>
          <p:nvPr/>
        </p:nvSpPr>
        <p:spPr>
          <a:xfrm>
            <a:off x="4066188" y="1320719"/>
            <a:ext cx="3291117" cy="292388"/>
          </a:xfrm>
          <a:prstGeom prst="rect">
            <a:avLst/>
          </a:prstGeom>
          <a:solidFill>
            <a:srgbClr val="FF8F8F">
              <a:alpha val="20000"/>
            </a:srgbClr>
          </a:solidFill>
        </p:spPr>
        <p:txBody>
          <a:bodyPr wrap="square" rtlCol="0">
            <a:spAutoFit/>
          </a:bodyPr>
          <a:lstStyle/>
          <a:p>
            <a:pPr algn="ctr"/>
            <a:r>
              <a:rPr lang="en-US" sz="1300" b="1" dirty="0">
                <a:solidFill>
                  <a:srgbClr val="C00000"/>
                </a:solidFill>
              </a:rPr>
              <a:t>Data – Description</a:t>
            </a:r>
            <a:endParaRPr lang="en-NZ" sz="1300" b="1" dirty="0">
              <a:solidFill>
                <a:srgbClr val="C00000"/>
              </a:solidFill>
            </a:endParaRPr>
          </a:p>
        </p:txBody>
      </p:sp>
      <p:pic>
        <p:nvPicPr>
          <p:cNvPr id="20" name="Picture 1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2073682" y="127935"/>
            <a:ext cx="527893" cy="753536"/>
          </a:xfrm>
          <a:prstGeom prst="rect">
            <a:avLst/>
          </a:prstGeom>
        </p:spPr>
      </p:pic>
      <p:pic>
        <p:nvPicPr>
          <p:cNvPr id="21" name="Picture 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664926" y="6815048"/>
            <a:ext cx="1775203" cy="991979"/>
          </a:xfrm>
          <a:prstGeom prst="rect">
            <a:avLst/>
          </a:prstGeom>
        </p:spPr>
      </p:pic>
      <p:pic>
        <p:nvPicPr>
          <p:cNvPr id="5" name="Picture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700473" y="1941651"/>
            <a:ext cx="1686830" cy="1375565"/>
          </a:xfrm>
          <a:prstGeom prst="rect">
            <a:avLst/>
          </a:prstGeom>
        </p:spPr>
      </p:pic>
      <p:pic>
        <p:nvPicPr>
          <p:cNvPr id="11" name="Picture 10"/>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54935" y="7334517"/>
            <a:ext cx="3354064" cy="1990458"/>
          </a:xfrm>
          <a:prstGeom prst="rect">
            <a:avLst/>
          </a:prstGeom>
        </p:spPr>
      </p:pic>
    </p:spTree>
    <p:extLst>
      <p:ext uri="{BB962C8B-B14F-4D97-AF65-F5344CB8AC3E}">
        <p14:creationId xmlns:p14="http://schemas.microsoft.com/office/powerpoint/2010/main" val="35144849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2796</TotalTime>
  <Words>607</Words>
  <Application>Microsoft Office PowerPoint</Application>
  <PresentationFormat>A3 Paper (297x420 mm)</PresentationFormat>
  <Paragraphs>51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(Body)</vt:lpstr>
      <vt:lpstr>Calibri Light</vt:lpstr>
      <vt:lpstr>Wingdings</vt:lpstr>
      <vt:lpstr>Office Theme</vt:lpstr>
      <vt:lpstr>PowerPoint Presentation</vt:lpstr>
    </vt:vector>
  </TitlesOfParts>
  <Company>University of Canterbury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Martin Nguyen</dc:creator>
  <cp:lastModifiedBy>Martin Nguyen</cp:lastModifiedBy>
  <cp:revision>235</cp:revision>
  <dcterms:created xsi:type="dcterms:W3CDTF">2021-01-28T11:19:35Z</dcterms:created>
  <dcterms:modified xsi:type="dcterms:W3CDTF">2021-02-05T03:16:45Z</dcterms:modified>
</cp:coreProperties>
</file>